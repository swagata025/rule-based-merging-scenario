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22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7453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Project / UG Research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0" y="657453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8F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Review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228832" y="655624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778240" y="-914400"/>
            <a:ext cx="4389120" cy="4389120"/>
          </a:xfrm>
          <a:prstGeom prst="arc">
            <a:avLst/>
          </a:prstGeom>
          <a:noFill/>
          <a:ln w="12700">
            <a:solidFill>
              <a:srgbClr val="1C527B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92640" y="45720"/>
            <a:ext cx="3108960" cy="3108960"/>
          </a:xfrm>
          <a:prstGeom prst="arc">
            <a:avLst/>
          </a:prstGeom>
          <a:noFill/>
          <a:ln w="12700">
            <a:solidFill>
              <a:srgbClr val="2D718C">
                <a:alpha val="8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768096"/>
            <a:ext cx="73152" cy="523036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87552" y="93268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16355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0704" y="950976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EA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PROJECT • UG RESEARCH 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87552" y="1572768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800" b="1">
                <a:solidFill>
                  <a:srgbClr val="FFFFFF"/>
                </a:solidFill>
                <a:latin typeface="Arial"/>
              </a:rPr>
              <a:t>Rule-Based Cooperative Highway Ramp Merging for CAVs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05840" y="27614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800" b="0">
                <a:solidFill>
                  <a:srgbClr val="B9C8DB"/>
                </a:solidFill>
                <a:latin typeface="Arial"/>
              </a:rPr>
              <a:t>Minor Project Mid-Semester Progress Evaluation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3401568"/>
            <a:ext cx="5029200" cy="0"/>
          </a:xfrm>
          <a:prstGeom prst="line">
            <a:avLst/>
          </a:prstGeom>
          <a:noFill/>
          <a:ln w="12700">
            <a:solidFill>
              <a:srgbClr val="36516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959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FFFFFF"/>
                </a:solidFill>
                <a:latin typeface="Arial"/>
              </a:rPr>
              <a:t>Pranjal Gupta  •  Swagata Barik  •  Aryan Dubey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FFFFFF"/>
                </a:solidFill>
                <a:latin typeface="Arial"/>
              </a:rPr>
              <a:t>Dr. Debanjan 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989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00" b="0">
                <a:solidFill>
                  <a:srgbClr val="8EA6C2"/>
                </a:solidFill>
                <a:latin typeface="Arial"/>
              </a:rPr>
              <a:t>IIIT Naya Raipur  •  October 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5468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1200" b="0">
                <a:solidFill>
                  <a:srgbClr val="D8E4F0"/>
                </a:solidFill>
                <a:latin typeface="Arial"/>
              </a:rPr>
              <a:t>Distributed Consensus CACC with Event-Triggered Communication &amp; Safety Fail-Safe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A structured research journey: establishing the merging bottleneck, identifying communication gaps, presenting event-triggered CACC, and demonstrating empirical evidence.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Highway on-ramp bottlenecks &amp; CAV cooperative speed harmonization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53512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118104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191256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18104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18104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Wireless channel saturation &amp; vulnerability to packet drop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48656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13248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0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13248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Virtual platoon sequencing + event-triggered consensus CACC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06056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43800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08392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81544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08392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08392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Microscopic SUMO/TraCI co-simulation &amp; packet loss benchmarks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838944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03536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76688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03536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003536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Multi-lane scaling, mixed autonomy, and saturation capacity testing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" y="4224528"/>
            <a:ext cx="10899648" cy="1152144"/>
          </a:xfrm>
          <a:prstGeom prst="roundRect">
            <a:avLst>
              <a:gd name="adj" fmla="val 1269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6112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00" b="1">
                <a:solidFill>
                  <a:srgbClr val="13A6A6"/>
                </a:solidFill>
                <a:latin typeface="Arial"/>
              </a:rPr>
              <a:t>Presentation Narrative 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3708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Context → Motivation → Literature Review → Problem Definition → Objectives → Methodology → Simulation Setup → Results &amp; Discussion → Action Plan → Conclusion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Cooperative Automated Driving (CAD) orchestrates multi-agent vehicle merges to eliminate freeway bottleneck congestion.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01952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66544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0848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62456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62456" y="242316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Highway on-ramps create localized bottlenecks and turbulence near merge zones. Asymmetric vehicle streams make cooperative right-of-way coordination important.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901952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2066544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82512" y="20848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48856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scenario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8856" y="242316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Human drivers execute selfish, abrupt lane insertions causing upstream shockwaves and phantom jams. Unconnected ACC systems operate reactively without inter-lane preview.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529584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3694176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B98114"/>
          </a:solidFill>
          <a:ln w="12700">
            <a:solidFill>
              <a:srgbClr val="B981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371246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62456" y="3712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62456" y="405079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In scope: 100% CAV penetration, single-lane ramp and highway, dynamic merge speed estimation, virtual sequencing, and event-triggered CACC. Out of scope: human-driven vehicles and multi-lane weaving.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4768" y="3529584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09360" y="3694176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2512" y="371246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48856" y="3712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405079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An end-to-end SUMO/TraCI co-simulation framework, event-triggered V2V communication protocol with dead reckoning, and exhaustive benchmarking under ideal and lossy wireless links.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230368"/>
            <a:ext cx="10725912" cy="658368"/>
          </a:xfrm>
          <a:prstGeom prst="roundRect">
            <a:avLst>
              <a:gd name="adj" fmla="val 180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9536" y="5404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C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project framing: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70632" y="5340096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1">
                <a:solidFill>
                  <a:srgbClr val="FFFFFF"/>
                </a:solidFill>
                <a:latin typeface="Arial"/>
              </a:rPr>
              <a:t>“We investigate cooperative CAV highway ramp merging using virtual platoon sequencing and event-triggered consensus CACC, targeting collision-free merging with ~90% lower communication overhead.”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Motivation: issues &amp; challenges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Addressing moving bottleneck conflicts while resolving physical safety and wireless channel congestion.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20240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167128"/>
            <a:ext cx="320040" cy="320040"/>
          </a:xfrm>
          <a:prstGeom prst="ellipse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2037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35024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pressure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27832" y="20299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Asymmetric entry speeds (25 m/s highway vs 15 m/s ramp) cause severe deceleration waves at the merge point without anticipatory speed harmonization.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990088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3236976"/>
            <a:ext cx="320040" cy="320040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273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35024" y="3145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constraint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309981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DSRC / C-V2X 5.9 GHz channels experience packet collision, transmission latency, and interference as vehicle density escalates under periodic 10 Hz broadcast.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059936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306824"/>
            <a:ext cx="320040" cy="320040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343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35024" y="42153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system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27832" y="41696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00">
                <a:solidFill>
                  <a:srgbClr val="5D6B7E"/>
                </a:solidFill>
                <a:latin typeface="Arial"/>
              </a:rPr>
              <a:t>Commuters face stop-and-go delays and elevated collision risks; better coordination aims to smooth speed changes and improve merge safety.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71232" y="1920240"/>
            <a:ext cx="3813048" cy="3255264"/>
          </a:xfrm>
          <a:prstGeom prst="roundRect">
            <a:avLst>
              <a:gd name="adj" fmla="val 56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00416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9560" y="276148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400">
                <a:solidFill>
                  <a:srgbClr val="CFE0EF"/>
                </a:solidFill>
                <a:latin typeface="Arial"/>
              </a:rPr>
              <a:t>With emerging V2X standards (C-V2X Rel-16) and commercial automated vehicle deployment, merging controllers must be bandwidth-frugal and resilient to real packet loss.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9560" y="3803904"/>
            <a:ext cx="3108960" cy="0"/>
          </a:xfrm>
          <a:prstGeom prst="line">
            <a:avLst/>
          </a:prstGeom>
          <a:noFill/>
          <a:ln w="12700">
            <a:solidFill>
              <a:srgbClr val="3A5572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0956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change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4297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FFFFFF"/>
                </a:solidFill>
                <a:latin typeface="Arial"/>
              </a:rPr>
              <a:t>From channel-saturating 10 Hz periodic broadcasting -&gt; to bandwidth-efficient event-triggered communication with dead-reckoning support.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review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Critical comparison of leading cooperative merging, CACC platooning, and event-triggered control methodologies.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874520"/>
            <a:ext cx="1490472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4767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874520"/>
            <a:ext cx="187452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21992" y="194767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874520"/>
            <a:ext cx="187452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096512" y="194767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Evaluation Simulator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1874520"/>
            <a:ext cx="150876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71032" y="194767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Performance Metric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874520"/>
            <a:ext cx="3675888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79792" y="1947672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 / limitation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2386584"/>
            <a:ext cx="1490472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249631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Wang et al. (2020)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148840" y="2386584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221992" y="249631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Consensus CACC + RSU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023360" y="2386584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096512" y="249631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SUMO Simulation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897880" y="2386584"/>
            <a:ext cx="150876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71032" y="2496312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0 Collisions (Ideal)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406640" y="2386584"/>
            <a:ext cx="367588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79792" y="249631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1E293B"/>
                </a:solidFill>
                <a:latin typeface="Arial"/>
              </a:rPr>
              <a:t>Proposes dynamic merge speed &amp; virtual sequence; assumes ideal 0-loss, 0-delay V2X with no channel optimization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8368" y="3035808"/>
            <a:ext cx="1490472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314553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Milanes et al. (2014)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148840" y="3035808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221992" y="314553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Empirical CACC Platoon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023360" y="3035808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096512" y="314553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Real Vehicle Fleet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97880" y="3035808"/>
            <a:ext cx="150876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71032" y="314553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String Stability (10 Hz)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406640" y="3035808"/>
            <a:ext cx="3675888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479792" y="3145536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1E293B"/>
                </a:solidFill>
                <a:latin typeface="Arial"/>
              </a:rPr>
              <a:t>Demonstrated stable vehicle following in real traffic; limited to single-lane following without ramp merge coordination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58368" y="3685032"/>
            <a:ext cx="1490472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1520" y="37947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Rios-Torres et al. (2017)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2148840" y="3685032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21992" y="37947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Centralized Optimal Control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023360" y="3685032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096512" y="37947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Analytical / MATLAB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897880" y="3685032"/>
            <a:ext cx="150876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71032" y="379476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Min Fuel / Accel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406640" y="3685032"/>
            <a:ext cx="367588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479792" y="3794760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1E293B"/>
                </a:solidFill>
                <a:latin typeface="Arial"/>
              </a:rPr>
              <a:t>Optimizes individual trajectories; computationally prohibitive (QP) and prone to catastrophic failure if RSU drops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58368" y="4334256"/>
            <a:ext cx="1490472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31520" y="444398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Molin et al. (2014)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2148840" y="4334256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221992" y="4443984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Event-Triggered Consensus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023360" y="4334256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096512" y="4443984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Networked Multi-Agent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897880" y="4334256"/>
            <a:ext cx="150876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971032" y="444398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Bounded Error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7406640" y="4334256"/>
            <a:ext cx="3675888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479792" y="4443984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930">
                <a:solidFill>
                  <a:srgbClr val="1E293B"/>
                </a:solidFill>
                <a:latin typeface="Arial"/>
              </a:rPr>
              <a:t>Theoretical multi-agent consensus proofs; not adapted for highway ramp geometry, asymmetric speeds, or SUMO physics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658368" y="5266944"/>
            <a:ext cx="10725912" cy="658368"/>
          </a:xfrm>
          <a:prstGeom prst="roundRect">
            <a:avLst>
              <a:gd name="adj" fmla="val 19444"/>
            </a:avLst>
          </a:prstGeom>
          <a:solidFill>
            <a:srgbClr val="EAF6F4"/>
          </a:solidFill>
          <a:ln w="12700">
            <a:solidFill>
              <a:srgbClr val="D8ECE9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68680" y="5449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13A6A6"/>
                </a:solidFill>
                <a:latin typeface="Arial"/>
              </a:rPr>
              <a:t>Literature Review Takeaway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847088" y="538581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Prior works either unrealistically assume perfect wireless channels or suffer severe channel saturation under continuous 10 Hz beaconing during high-density merging.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FOCUS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Mathematical formalization of cooperative ramp merging under communication constraints.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892808"/>
            <a:ext cx="6903720" cy="3566160"/>
          </a:xfrm>
          <a:prstGeom prst="roundRect">
            <a:avLst>
              <a:gd name="adj" fmla="val 512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216712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73552"/>
          </a:solidFill>
          <a:ln w="12700">
            <a:solidFill>
              <a:srgbClr val="17355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18541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F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2761488"/>
            <a:ext cx="6108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FFFFFF"/>
                </a:solidFill>
                <a:latin typeface="Arial"/>
              </a:rPr>
              <a:t>“Given asymmetric CAV streams on a main highway (25 m/s) and an on-ramp (15 m/s), design a distributed coordination system that dynamically determines a bottleneck merge speed, assigns conflict-free arrival slots, and executes longitudinal consensus control under realistic and bandwidth-constrained wireless channels without physical collisions.”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3708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B9CBDC"/>
                </a:solidFill>
                <a:latin typeface="Arial"/>
              </a:rPr>
              <a:t>The objective is to minimize V2X communication overhead while maintaining stable vehicle coordination, collision avoidance, and passenger comfort.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45552" y="1892808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28432" y="207568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01584" y="209397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34272" y="201168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50">
                <a:solidFill>
                  <a:srgbClr val="5D6B7E"/>
                </a:solidFill>
                <a:latin typeface="Arial"/>
              </a:rPr>
              <a:t>Vehicle telemetry (t, x, v, a) from highway and ramp detectors; road geometry (ramp 368m, main 400m); speed limits (30 m/s); safe headways (1.5s).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45552" y="2980944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28432" y="316382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01584" y="318211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34272" y="309981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50">
                <a:solidFill>
                  <a:srgbClr val="5D6B7E"/>
                </a:solidFill>
                <a:latin typeface="Arial"/>
              </a:rPr>
              <a:t>Comfortable accel bounds [-3.0, +2.0] m/s², symmetric jerk limit ≤ 2.5 m/s³, wireless packet loss (up to 30%), and autonomous radar fail-safe threshold (TTC &lt; 2.0s).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45552" y="4069080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28432" y="425196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01584" y="4270248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34272" y="4187952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50">
                <a:solidFill>
                  <a:srgbClr val="5D6B7E"/>
                </a:solidFill>
                <a:latin typeface="Arial"/>
              </a:rPr>
              <a:t>Conflict-free virtual sequence, continuous acceleration command a_cmd(t), event-triggered broadcast decisions, and emergency fail-safe actuation.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Explicit breakdown of shortcomings in state-of-the-art cooperative merging research.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Several reviewed studies assume ideal or near-ideal communication, leaving realistic wireless impairments such as packet loss and delay jitter less explored.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6432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88536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89704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62856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98848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Standard 10 Hz periodic V2V broadcasting causes channel saturation and packet collision during dense traffic, transmitting redundant state data during steady cruising.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86600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18704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19872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93024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29016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9016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Cooperative controllers often degrade chaotically during wireless blackouts without an independent, radar-based fail-safe to decouple cooperative consensus from emergency braking.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16768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4590288"/>
            <a:ext cx="10826496" cy="896112"/>
          </a:xfrm>
          <a:prstGeom prst="roundRect">
            <a:avLst>
              <a:gd name="adj" fmla="val 142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4846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13A6A6"/>
                </a:solidFill>
                <a:latin typeface="Arial"/>
              </a:rPr>
              <a:t>Our Proposed Contribution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56232" y="4736592"/>
            <a:ext cx="9180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50" b="1">
                <a:solidFill>
                  <a:srgbClr val="0B1F3A"/>
                </a:solidFill>
                <a:latin typeface="Arial"/>
              </a:rPr>
              <a:t>Our project addresses these gaps with Event-Triggered V2V, Dead-Reckoning state estimation, and a radar-based TTC fail-safe, targeting ~90% lower communication overhead while preserving collision-free operation in tested scenarios.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TARGET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Actionable, testable research milestones for the minor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2128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300" b="1">
                <a:solidFill>
                  <a:srgbClr val="0B1F3A"/>
                </a:solidFill>
                <a:latin typeface="Arial"/>
              </a:rPr>
              <a:t>Develop, simulate, and benchmark an event-triggered, consensus-driven cooperative merging framework for CAVs that substantially reduces wireless communication load while targeting collision-free operation under ideal and lossy channels.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897880" y="187452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203911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44768" y="205740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65392" y="20025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00" b="1">
                <a:solidFill>
                  <a:srgbClr val="13A6A6"/>
                </a:solidFill>
                <a:latin typeface="Arial"/>
              </a:rPr>
              <a:t>Model &amp; Formalize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6096" y="198424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70">
                <a:solidFill>
                  <a:srgbClr val="5D6B7E"/>
                </a:solidFill>
                <a:latin typeface="Arial"/>
              </a:rPr>
              <a:t>Kinematic arrival projections, dynamic merge speed estimation (v_m), and headway constraints along the virtual platoon coordinate axis.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897880" y="269748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71616" y="286207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44768" y="28803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65392" y="2825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00" b="1">
                <a:solidFill>
                  <a:srgbClr val="13A6A6"/>
                </a:solidFill>
                <a:latin typeface="Arial"/>
              </a:rPr>
              <a:t>Design &amp; Implement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6096" y="28072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70">
                <a:solidFill>
                  <a:srgbClr val="5D6B7E"/>
                </a:solidFill>
                <a:latin typeface="Arial"/>
              </a:rPr>
              <a:t>Low-frequency RSU virtual sequencing (0.5 Hz) and distributed consensus CACC with event-triggered broadcast criteria and dead-reckoning extrapolation.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897880" y="352044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71616" y="368503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44768" y="37033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5392" y="364845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00" b="1">
                <a:solidFill>
                  <a:srgbClr val="13A6A6"/>
                </a:solidFill>
                <a:latin typeface="Arial"/>
              </a:rPr>
              <a:t>Benchmark &amp; Simulate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26096" y="36301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70">
                <a:solidFill>
                  <a:srgbClr val="5D6B7E"/>
                </a:solidFill>
                <a:latin typeface="Arial"/>
              </a:rPr>
              <a:t>Microscopic co-simulations in Eclipse SUMO/TraCI evaluating safety, throughput, packet volume, and latency across baseline and event-based configurations.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897880" y="434340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71616" y="450799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44768" y="452628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65392" y="447141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00" b="1">
                <a:solidFill>
                  <a:srgbClr val="13A6A6"/>
                </a:solidFill>
                <a:latin typeface="Arial"/>
              </a:rPr>
              <a:t>Stress-Test &amp; Analyze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26096" y="445312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70">
                <a:solidFill>
                  <a:srgbClr val="5D6B7E"/>
                </a:solidFill>
                <a:latin typeface="Arial"/>
              </a:rPr>
              <a:t>Empirically assess resilience against channel packet loss (0%, 10%, 30%) and validate autonomous radar fail-safe intervention mechanisms.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58368" y="4544568"/>
            <a:ext cx="4800600" cy="969264"/>
          </a:xfrm>
          <a:prstGeom prst="roundRect">
            <a:avLst>
              <a:gd name="adj" fmla="val 14151"/>
            </a:avLst>
          </a:prstGeom>
          <a:solidFill>
            <a:srgbClr val="DDF4F1"/>
          </a:solidFill>
          <a:ln w="12700">
            <a:solidFill>
              <a:srgbClr val="D0E9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7824" y="4773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13A6A6"/>
                </a:solidFill>
                <a:latin typeface="Arial"/>
              </a:rPr>
              <a:t>Target Success Criteria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29968" y="4663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50" b="1">
                <a:solidFill>
                  <a:srgbClr val="0B1F3A"/>
                </a:solidFill>
                <a:latin typeface="Arial"/>
              </a:rPr>
              <a:t>Zero physical collisions across all scenarios, ≥ 80% reduction in V2V packet transmissions, and stable headway convergence under both perfect and lossy channels.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framework /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Hierarchical architecture: Centralized RSU virtual sequencing combined with distributed event-triggered consensus CACC and radar fail-safe.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035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665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V2I Ingestion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Entry detection at 368m; report speed &amp; distance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26771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4086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40487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5117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2432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5117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Bottleneck Speed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5117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Compute dynamic merge velocity v_m from vehicle arrival states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14223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1538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7939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2569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9884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2569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Virtual Sequencing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2569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RSU calculates ETA, assigns FIFO + 1.5s slot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01675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08990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5391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0021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7336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Distributed CACC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021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Vehicles execute consensus control along virtual axis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89127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96442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02843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17473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4788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7473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Event Trigger V2V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17473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Broadcast on Δv ≥ 0.3 m/s, Δd ≥ 0.5 m, or 1.0s heartbeat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76579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83894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90295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04925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12240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4925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0B1F3A"/>
                </a:solidFill>
                <a:latin typeface="Arial"/>
              </a:rPr>
              <a:t>Autonomous Safety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04925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30">
                <a:solidFill>
                  <a:srgbClr val="5D6B7E"/>
                </a:solidFill>
                <a:latin typeface="Arial"/>
              </a:rPr>
              <a:t>Radar fail-safe engages SUMO car-following if TTC &lt; 2.0s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58368" y="4041648"/>
            <a:ext cx="6583680" cy="1417320"/>
          </a:xfrm>
          <a:prstGeom prst="roundRect">
            <a:avLst>
              <a:gd name="adj" fmla="val 1032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96112" y="43159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9FC0DB"/>
                </a:solidFill>
                <a:latin typeface="Arial"/>
              </a:rPr>
              <a:t>Hierarchical Control Strategy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84832" y="4242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700" b="1">
                <a:solidFill>
                  <a:srgbClr val="FFFFFF"/>
                </a:solidFill>
                <a:latin typeface="Arial"/>
              </a:rPr>
              <a:t>Macro-Coordination (0.5 Hz RSU) + Micro-Execution (10 Hz Onboard)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2084832" y="46908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50">
                <a:solidFill>
                  <a:srgbClr val="C6D8E8"/>
                </a:solidFill>
                <a:latin typeface="Arial"/>
              </a:rPr>
              <a:t>The RSU provides macroscopic collision-free slot allocations at low frequency (0.5 Hz), while CAVs execute high-frequency (10 Hz) longitudinal consensus control locally. The event-triggered filter suppresses 90% of redundant V2V packets during steady-state tracking.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516368" y="4041648"/>
            <a:ext cx="389534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772400" y="43068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13A6A6"/>
                </a:solidFill>
                <a:latin typeface="Arial"/>
              </a:rPr>
              <a:t>Consensus Law &amp; Dead Reckoning Protocol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0" y="4645152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00" b="1">
                <a:solidFill>
                  <a:srgbClr val="0B1F3A"/>
                </a:solidFill>
                <a:latin typeface="Arial"/>
              </a:rPr>
              <a:t>Acceleration law: a = -kp*(d_des - gap_ghost) - kv*(v - v_pred). Followers apply constant-velocity dead reckoning d_pred(t) = d_last - v_last * Δt during silent intervals, preventing false deceleration.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dataset / scenario description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Microscopic traffic simulation environment modeled in Eclipse SUMO v1.27.1 via Python TraCI co-simulation.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901952"/>
            <a:ext cx="73152" cy="841248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0B1F3A"/>
                </a:solidFill>
                <a:latin typeface="Arial"/>
              </a:rPr>
              <a:t>75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5D6B7E"/>
                </a:solidFill>
                <a:latin typeface="Arial"/>
              </a:rPr>
              <a:t>Total CAVs Simulated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62656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62656" y="1901952"/>
            <a:ext cx="73152" cy="84124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45536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0B1F3A"/>
                </a:solidFill>
                <a:latin typeface="Arial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145536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5D6B7E"/>
                </a:solidFill>
                <a:latin typeface="Arial"/>
              </a:rPr>
              <a:t>Traffic Inflow Streams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66944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266944" y="1901952"/>
            <a:ext cx="73152" cy="841248"/>
          </a:xfrm>
          <a:prstGeom prst="rect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49824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0B1F3A"/>
                </a:solidFill>
                <a:latin typeface="Arial"/>
              </a:rPr>
              <a:t>300s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449824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5D6B7E"/>
                </a:solidFill>
                <a:latin typeface="Arial"/>
              </a:rPr>
              <a:t>Evaluation Time Horizon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71232" y="1901952"/>
            <a:ext cx="3648456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571232" y="1901952"/>
            <a:ext cx="73152" cy="841248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54112" y="2020824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0B1F3A"/>
                </a:solidFill>
                <a:latin typeface="Arial"/>
              </a:rPr>
              <a:t>100%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54112" y="2386584"/>
            <a:ext cx="3374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5D6B7E"/>
                </a:solidFill>
                <a:latin typeface="Arial"/>
              </a:rPr>
              <a:t>Autonomous Penetration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2237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20" b="1">
                <a:solidFill>
                  <a:srgbClr val="FFFFFF"/>
                </a:solidFill>
                <a:latin typeface="Arial"/>
              </a:rPr>
              <a:t>Flow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624328" y="3127248"/>
            <a:ext cx="141732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88336" y="322783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20" b="1">
                <a:solidFill>
                  <a:srgbClr val="FFFFFF"/>
                </a:solidFill>
                <a:latin typeface="Arial"/>
              </a:rPr>
              <a:t>Vehicles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04164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0565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20" b="1">
                <a:solidFill>
                  <a:srgbClr val="FFFFFF"/>
                </a:solidFill>
                <a:latin typeface="Arial"/>
              </a:rPr>
              <a:t>Flow Rate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00760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7161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20" b="1">
                <a:solidFill>
                  <a:srgbClr val="FFFFFF"/>
                </a:solidFill>
                <a:latin typeface="Arial"/>
              </a:rPr>
              <a:t>Platform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73568" y="3127248"/>
            <a:ext cx="3419856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37576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20" b="1">
                <a:solidFill>
                  <a:srgbClr val="FFFFFF"/>
                </a:solidFill>
                <a:latin typeface="Arial"/>
              </a:rPr>
              <a:t>Operational Characteristics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5836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2237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Highway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624328" y="3575304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688336" y="3666744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50 CAVs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04164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10565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600 veh/hr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00760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07161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SUMO + TraCI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973568" y="3575304"/>
            <a:ext cx="341985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037576" y="366674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Single lane 400m, depart speed 25.0 m/s (90 km/h), speed limit 30 m/s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5836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2237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Ramp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2624328" y="4197096"/>
            <a:ext cx="141732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688336" y="4288536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25 CAVs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404164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10565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300 veh/hr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600760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07161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SUMO + TraCI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973568" y="4197096"/>
            <a:ext cx="3419856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037576" y="428853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Single lane 368m, depart speed 15.0 m/s (54 km/h), speed limit 30 m/s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5836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2237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Combined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2624328" y="4818888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688336" y="4910328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75 CAVs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404164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10565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900 veh/hr total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600760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07161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SUMO + TraCI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973568" y="4818888"/>
            <a:ext cx="341985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8037576" y="491032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20">
                <a:solidFill>
                  <a:srgbClr val="5D6B7E"/>
                </a:solidFill>
                <a:latin typeface="Arial"/>
              </a:rPr>
              <a:t>Single lane 400m, 8m junction zone (:gneJ2), bottleneck speed v_m = 25 m/s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58368" y="5577840"/>
            <a:ext cx="10725912" cy="411480"/>
          </a:xfrm>
          <a:prstGeom prst="roundRect">
            <a:avLst>
              <a:gd name="adj" fmla="val 22222"/>
            </a:avLst>
          </a:prstGeom>
          <a:solidFill>
            <a:srgbClr val="FFF6E3"/>
          </a:solidFill>
          <a:ln w="12700">
            <a:solidFill>
              <a:srgbClr val="F0E3C3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32104" y="56784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A16C0A"/>
                </a:solidFill>
                <a:latin typeface="Arial"/>
              </a:rPr>
              <a:t>Physical CAV Parameters: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170432" y="5641848"/>
            <a:ext cx="982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20">
                <a:solidFill>
                  <a:srgbClr val="1E293B"/>
                </a:solidFill>
                <a:latin typeface="Arial"/>
              </a:rPr>
              <a:t>All vehicles are modeled as 5.0 m CAVs with comfortable acceleration [-3.0, +2.0] m/s², emergency deceleration 9.0 m/s², safe standstill gap 5.0 m, safe time headway 1.5 s, and symmetric jerk limit 2.5 m/s³.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Rigorous comparison protocol across baseline, event-triggered, and packet-loss configurations.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0195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901952"/>
            <a:ext cx="73152" cy="1298448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05256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0B1F3A"/>
                </a:solidFill>
                <a:latin typeface="Arial"/>
              </a:rPr>
              <a:t>Controller &amp; Channel Parameters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" y="24688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5D6B7E"/>
                </a:solidFill>
                <a:latin typeface="Arial"/>
              </a:rPr>
              <a:t>Step size Δt = 0.1s (10 Hz), RSU sort period = 2.0s (0.5 Hz), consensus gains kp = 0.15, kv = 0.80, jerk limit = 2.5 m/s³, radar lookahead = 150m, TTC threshold = 2.0s.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" y="3547872"/>
            <a:ext cx="73152" cy="129844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05256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0B1F3A"/>
                </a:solidFill>
                <a:latin typeface="Arial"/>
              </a:rPr>
              <a:t>Simulation Protocol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" y="411480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5D6B7E"/>
                </a:solidFill>
                <a:latin typeface="Arial"/>
              </a:rPr>
              <a:t>300.0s multi-vehicle simulation; reproducible RNG channel seeds; full 0.1s telemetry tracking position, velocity, acceleration, command, predecessor age, and wireless packet transfers.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4768" y="190195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44768" y="1901952"/>
            <a:ext cx="73152" cy="1298448"/>
          </a:xfrm>
          <a:prstGeom prst="rect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91656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0B1F3A"/>
                </a:solidFill>
                <a:latin typeface="Arial"/>
              </a:rPr>
              <a:t>Evaluated Benchmarks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24688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5D6B7E"/>
                </a:solidFill>
                <a:latin typeface="Arial"/>
              </a:rPr>
              <a:t>1) Perfect Comm (10 Hz periodic V2V baseline); 2) Event-Triggered V2V (Proposed); 3) Real Comm with 0% loss; 4) Real Comm with 10% packet drop; 5) Real Comm with 30% packet drop.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44768" y="354787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44768" y="3547872"/>
            <a:ext cx="73152" cy="1298448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91656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00" b="1">
                <a:solidFill>
                  <a:srgbClr val="0B1F3A"/>
                </a:solidFill>
                <a:latin typeface="Arial"/>
              </a:rPr>
              <a:t>Performance 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91656" y="411480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5D6B7E"/>
                </a:solidFill>
                <a:latin typeface="Arial"/>
              </a:rPr>
              <a:t>Safety (collisions, TTC &lt; 2.0s conflicts), Communication Cost (packet counts, total data volume KB, bitrate kbps), and Traffic Stability (merge speed, speed variance).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8368" y="5248656"/>
            <a:ext cx="10716768" cy="521208"/>
          </a:xfrm>
          <a:prstGeom prst="roundRect">
            <a:avLst>
              <a:gd name="adj" fmla="val 2280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404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 b="1">
                <a:solidFill>
                  <a:srgbClr val="9FC0DB"/>
                </a:solidFill>
                <a:latin typeface="Arial"/>
              </a:rPr>
              <a:t>Fair Comparison Principle: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59152" y="5330952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50" b="1">
                <a:solidFill>
                  <a:srgbClr val="FFFFFF"/>
                </a:solidFill>
                <a:latin typeface="Arial"/>
              </a:rPr>
              <a:t>Identical vehicle arrival sequences, speed distributions, and road networks are maintained across all baseline and experimental runs for exact comparability.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results &amp; discussion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Quantitative evidence: 89.60% reduction in V2V transmissions with collision-free operation across all tested scenarios.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874520"/>
            <a:ext cx="6382512" cy="3529584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112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1">
                <a:solidFill>
                  <a:srgbClr val="0B1F3A"/>
                </a:solidFill>
                <a:latin typeface="Arial"/>
              </a:rPr>
              <a:t>Key Quantitative Benchmark 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50">
                <a:solidFill>
                  <a:srgbClr val="5D6B7E"/>
                </a:solidFill>
                <a:latin typeface="Arial"/>
              </a:rPr>
              <a:t>Tested over 300.0s / 75 CAVs / 900 veh/hr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5D6B7E"/>
                </a:solidFill>
                <a:latin typeface="Arial"/>
              </a:rPr>
              <a:t>10 Hz Baseline V2V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2953512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103120" y="2953512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5D6B7E"/>
          </a:solidFill>
          <a:ln w="12700">
            <a:solidFill>
              <a:srgbClr val="5D6B7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80644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1050" b="1">
                <a:solidFill>
                  <a:srgbClr val="0B1F3A"/>
                </a:solidFill>
                <a:latin typeface="Arial"/>
              </a:rPr>
              <a:t>16,129 pkts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5D6B7E"/>
                </a:solidFill>
                <a:latin typeface="Arial"/>
              </a:rPr>
              <a:t>Event-Triggered V2V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3566160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03120" y="3566160"/>
            <a:ext cx="439350" cy="256032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06440" y="3538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1050" b="1">
                <a:solidFill>
                  <a:srgbClr val="0B1F3A"/>
                </a:solidFill>
                <a:latin typeface="Arial"/>
              </a:rPr>
              <a:t>1,677 pkts (-89.6%)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178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5D6B7E"/>
                </a:solidFill>
                <a:latin typeface="Arial"/>
              </a:rPr>
              <a:t>Bandwidth Volume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4178808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103120" y="4178808"/>
            <a:ext cx="899824" cy="256032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06440" y="41513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1050" b="1">
                <a:solidFill>
                  <a:srgbClr val="0B1F3A"/>
                </a:solidFill>
                <a:latin typeface="Arial"/>
              </a:rPr>
              <a:t>243.9 KB (-78.7%)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00">
                <a:solidFill>
                  <a:srgbClr val="94A1B0"/>
                </a:solidFill>
                <a:latin typeface="Arial"/>
              </a:rPr>
              <a:t>Zero physical collisions and zero TTC conflict events (&lt;2.0s) across all ideal and lossy runs (0%, 10%, 30% loss).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33488" y="1874520"/>
            <a:ext cx="4050792" cy="3529584"/>
          </a:xfrm>
          <a:prstGeom prst="roundRect">
            <a:avLst>
              <a:gd name="adj" fmla="val 46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07808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>Performance Discussion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07808" y="2807208"/>
            <a:ext cx="64008" cy="6400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54112" y="2724912"/>
            <a:ext cx="31912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D7E4EE"/>
                </a:solidFill>
                <a:latin typeface="Arial"/>
              </a:rPr>
              <a:t>What improved, and by how much?</a:t>
            </a:r>
            <a:endParaRPr lang="en-US" sz="1080" dirty="0"/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V2V transmissions dropped by 89.60% (from 16,129 to 1,677 packets).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Total wireless data reduced by 78.73% (from 1,147.2 KB to 243.9 KB).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Average bitrate dropped from 31.33 kbps to 6.66 kbps with zero collisions.</a:t>
            </a:r>
          </a:p>
        </p:txBody>
      </p:sp>
      <p:sp>
        <p:nvSpPr>
          <p:cNvPr id="26" name="Shape 24"/>
          <p:cNvSpPr/>
          <p:nvPr/>
        </p:nvSpPr>
        <p:spPr>
          <a:xfrm>
            <a:off x="7607808" y="3337560"/>
            <a:ext cx="64008" cy="64008"/>
          </a:xfrm>
          <a:prstGeom prst="ellipse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54112" y="3255264"/>
            <a:ext cx="31912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D7E4EE"/>
                </a:solidFill>
                <a:latin typeface="Arial"/>
              </a:rPr>
              <a:t>How does the system handle packet loss?</a:t>
            </a:r>
            <a:endParaRPr lang="en-US" sz="1080" dirty="0"/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Under 10% and 30% packet loss, linear dead reckoning prevented false braking.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Max predecessor age reached 4.3s during deep loss bursts with zero collisions.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Radar fail-safe stood ready as autonomous safety net but required 0 emergency overrides.</a:t>
            </a:r>
          </a:p>
        </p:txBody>
      </p:sp>
      <p:sp>
        <p:nvSpPr>
          <p:cNvPr id="28" name="Shape 26"/>
          <p:cNvSpPr/>
          <p:nvPr/>
        </p:nvSpPr>
        <p:spPr>
          <a:xfrm>
            <a:off x="7607808" y="3867912"/>
            <a:ext cx="64008" cy="64008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54112" y="3785616"/>
            <a:ext cx="3191256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D7E4EE"/>
                </a:solidFill>
                <a:latin typeface="Arial"/>
              </a:rPr>
              <a:t>Which result supports the core hypothesis?</a:t>
            </a:r>
            <a:endParaRPr lang="en-US" sz="1080" dirty="0"/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The observed collision-free merges with zero TTC fail-safe interventions support the hypothesis that high-rate periodic broadcasting is not always necessary for longitudinal safety.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State updates are only needed during acceleration, deceleration, or drift.</a:t>
            </a:r>
          </a:p>
        </p:txBody>
      </p:sp>
      <p:sp>
        <p:nvSpPr>
          <p:cNvPr id="30" name="Shape 28"/>
          <p:cNvSpPr/>
          <p:nvPr/>
        </p:nvSpPr>
        <p:spPr>
          <a:xfrm>
            <a:off x="7607808" y="4453128"/>
            <a:ext cx="64008" cy="64008"/>
          </a:xfrm>
          <a:prstGeom prst="ellipse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54112" y="4370832"/>
            <a:ext cx="3191256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sz="1080">
                <a:solidFill>
                  <a:srgbClr val="D7E4EE"/>
                </a:solidFill>
                <a:latin typeface="Arial"/>
              </a:rPr>
              <a:t>Current boundaries and next steps</a:t>
            </a:r>
            <a:endParaRPr lang="en-US" sz="1080" dirty="0"/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Present evaluation validates single-lane bottleneck geometries.</a:t>
            </a:r>
          </a:p>
          <a:p>
            <a:r>
              <a:rPr sz="1080">
                <a:solidFill>
                  <a:srgbClr val="D7E4EE"/>
                </a:solidFill>
                <a:latin typeface="Arial"/>
              </a:rPr>
              <a:t>• Multi-lane highway weaving and unequipped human vehicles will be addressed in W1–W3.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12 • VISUAL EVIDENCE : SIMULATION DASHBOARDS &amp; TRAJECTORIES</a:t>
            </a:r>
          </a:p>
          <a:p>
            <a:pPr>
              <a:defRPr sz="1800" b="1">
                <a:solidFill>
                  <a:srgbClr val="212121"/>
                </a:solidFill>
              </a:defRPr>
            </a:pPr>
            <a:r>
              <a:t>Microscopic Trajectory Convergence &amp; Empirical Communication Benchmarks</a:t>
            </a:r>
          </a:p>
        </p:txBody>
      </p:sp>
      <p:pic>
        <p:nvPicPr>
          <p:cNvPr id="3" name="Picture 2" descr="performance_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88720"/>
            <a:ext cx="5349240" cy="1687344"/>
          </a:xfrm>
          <a:prstGeom prst="rect">
            <a:avLst/>
          </a:prstGeom>
        </p:spPr>
      </p:pic>
      <p:pic>
        <p:nvPicPr>
          <p:cNvPr id="4" name="Picture 3" descr="trajectory_and_speed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349240" cy="18087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" y="3017520"/>
            <a:ext cx="534924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Communication &amp; Channel Efficiency Findings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89.60% reduction in V2V transmissions (16,129 down to 1,677 packets).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78.73% bandwidth savings (1,147.2 KB down to 243.9 KB total volume).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Transmission bitrate dropped from 31.33 kbps to 6.66 kbps (4.7x reduction).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Constant-velocity dead reckoning maintained predictive continuity under 10% and 30% packet loss without phantom deceleration.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017520"/>
            <a:ext cx="534924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Microscopic Merging Dynamics &amp; Safety Findings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100% collision-free merging across all 75 CAVs (50 highway, 25 ramp).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Zero critical TTC conflict events (&lt;2.0s) observed in all baseline and lossy runs.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Smooth velocity convergence to dynamic merge speed vm = 25.0 m/s prior to merge point.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Virtual predecessor gap (10 m + 1.5 s headway) remained stable without observed shockwave amplification.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5650992"/>
            <a:ext cx="10991088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Core Empirical Takeaway: In the tested scenarios, rule-based event triggering maintained collision-free operation while reducing total V2X data volume by 78.7%.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00" b="1">
                <a:solidFill>
                  <a:srgbClr val="13A6A6"/>
                </a:solidFill>
                <a:latin typeface="Arial"/>
              </a:rPr>
              <a:t>13 •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of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Concrete, time-bounded execution milestones for the second half of the semester.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86537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88366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98448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20" b="1">
                <a:solidFill>
                  <a:srgbClr val="0B1F3A"/>
                </a:solidFill>
                <a:latin typeface="Arial"/>
              </a:rPr>
              <a:t>Multi-Lane Highway Scaling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3200400" y="1865376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60">
                <a:solidFill>
                  <a:srgbClr val="5D6B7E"/>
                </a:solidFill>
                <a:latin typeface="Arial"/>
              </a:rPr>
              <a:t>Extend road geometry to 2-lane highway with discretionary lane-changing maneuvers before the merge.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10387584" y="1865376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60736" y="1883664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331720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" y="2633472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26517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98448" y="2660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20" b="1">
                <a:solidFill>
                  <a:srgbClr val="0B1F3A"/>
                </a:solidFill>
                <a:latin typeface="Arial"/>
              </a:rPr>
              <a:t>Saturation Capacity Tests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200400" y="2633472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60">
                <a:solidFill>
                  <a:srgbClr val="5D6B7E"/>
                </a:solidFill>
                <a:latin typeface="Arial"/>
              </a:rPr>
              <a:t>Simulate heavy traffic densities (1500–2400 veh/hr) and evaluate queue spillover and shockwave damping.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387584" y="2633472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60736" y="2651760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099816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8368" y="340156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34198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9844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20" b="1">
                <a:solidFill>
                  <a:srgbClr val="0B1F3A"/>
                </a:solidFill>
                <a:latin typeface="Arial"/>
              </a:rPr>
              <a:t>Mixed Autonomy &amp; Energy Impact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3200400" y="3401568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60">
                <a:solidFill>
                  <a:srgbClr val="5D6B7E"/>
                </a:solidFill>
                <a:latin typeface="Arial"/>
              </a:rPr>
              <a:t>Incorporate human-driven vehicles (Krauss/IDM) and calculate fuel consumption and emissions reductions.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0387584" y="3401568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460736" y="3419856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3867912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8368" y="41696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1879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98448" y="4197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20" b="1">
                <a:solidFill>
                  <a:srgbClr val="0B1F3A"/>
                </a:solidFill>
                <a:latin typeface="Arial"/>
              </a:rPr>
              <a:t>Thesis Report &amp; Manuscript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3200400" y="416966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60">
                <a:solidFill>
                  <a:srgbClr val="5D6B7E"/>
                </a:solidFill>
                <a:latin typeface="Arial"/>
              </a:rPr>
              <a:t>Complete comprehensive minor project report, clean modular codebase, and draft conference manuscript.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10387584" y="4169664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460736" y="4187952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" y="4636008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58368" y="4937760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" y="495604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98448" y="4965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20" b="1">
                <a:solidFill>
                  <a:srgbClr val="0B1F3A"/>
                </a:solidFill>
                <a:latin typeface="Arial"/>
              </a:rPr>
              <a:t>Final Evaluation &amp; Live Demo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3200400" y="493776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60">
                <a:solidFill>
                  <a:srgbClr val="5D6B7E"/>
                </a:solidFill>
                <a:latin typeface="Arial"/>
              </a:rPr>
              <a:t>Prepare interactive SUMO GUI demonstration and final defense presentation for end-sem review.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0387584" y="4937760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460736" y="4956048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" y="5705856"/>
            <a:ext cx="10716768" cy="310896"/>
          </a:xfrm>
          <a:prstGeom prst="roundRect">
            <a:avLst>
              <a:gd name="adj" fmla="val 35294"/>
            </a:avLst>
          </a:prstGeom>
          <a:solidFill>
            <a:srgbClr val="E8F5F3"/>
          </a:solidFill>
          <a:ln w="12700">
            <a:solidFill>
              <a:srgbClr val="D4EBE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9536" y="574243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880" b="1">
                <a:solidFill>
                  <a:srgbClr val="13A6A6"/>
                </a:solidFill>
                <a:latin typeface="Arial"/>
              </a:rPr>
              <a:t>Final Review Milestone: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2020824" y="5715000"/>
            <a:ext cx="8869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70" b="1">
                <a:solidFill>
                  <a:srgbClr val="0B1F3A"/>
                </a:solidFill>
                <a:latin typeface="Arial"/>
              </a:rPr>
              <a:t>End-Semester Evaluation (November 2026)  •  Deliverable: Multi-Lane CAV Merge Simulator, Comprehensive Thesis Report, and Research Paper Draft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00" b="1">
                <a:solidFill>
                  <a:srgbClr val="13A6A6"/>
                </a:solidFill>
                <a:latin typeface="Arial"/>
              </a:rPr>
              <a:t>14 •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future directions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250">
                <a:solidFill>
                  <a:srgbClr val="5D6B7E"/>
                </a:solidFill>
                <a:latin typeface="Arial"/>
              </a:rPr>
              <a:t>Summary of established findings, identified limitations, and roadmap for end-semester completion.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600" b="1">
                <a:solidFill>
                  <a:srgbClr val="0B1F3A"/>
                </a:solidFill>
                <a:latin typeface="Arial"/>
              </a:rPr>
              <a:t>What We Have Established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In the tested scenarios, virtual platoon sequencing + event-triggered consensus CACC achieved collision-free merging while reducing V2V communication overhead by 89.60%.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9704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62856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9704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600" b="1">
                <a:solidFill>
                  <a:srgbClr val="0B1F3A"/>
                </a:solidFill>
                <a:latin typeface="Arial"/>
              </a:rPr>
              <a:t>Current Limitations &amp; Open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9704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Current evaluation assumes 100% CAV penetration in a single-lane merge; unequipped human vehicles and multi-lane lane selection introduce non-deterministic trajectory noise.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19872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93024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19872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600" b="1">
                <a:solidFill>
                  <a:srgbClr val="0B1F3A"/>
                </a:solidFill>
                <a:latin typeface="Arial"/>
              </a:rPr>
              <a:t>Next Steps &amp; Future Directions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19872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sz="1150">
                <a:solidFill>
                  <a:srgbClr val="5D6B7E"/>
                </a:solidFill>
                <a:latin typeface="Arial"/>
              </a:rPr>
              <a:t>Integrate Deep Reinforcement Learning for dynamic event-threshold tuning, extend to heterogeneous vehicular traffic, and validate on ROS2 / hardware-in-the-loop testbeds.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725912" cy="905256"/>
          </a:xfrm>
          <a:prstGeom prst="roundRect">
            <a:avLst>
              <a:gd name="adj" fmla="val 161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000" b="1">
                <a:solidFill>
                  <a:srgbClr val="9FC0DB"/>
                </a:solidFill>
                <a:latin typeface="Arial"/>
              </a:rPr>
              <a:t>Core Takeaway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892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500" b="1">
                <a:solidFill>
                  <a:srgbClr val="FFFFFF"/>
                </a:solidFill>
                <a:latin typeface="Arial"/>
              </a:rPr>
              <a:t>“Cooperative CAV merging can reduce reliance on channel-saturating 10 Hz beaconing: event triggers and dead reckoning preserved collision-free operation in the tested scenarios with ~90% fewer V2V transmissions.”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023360"/>
            <a:ext cx="4663440" cy="4663440"/>
          </a:xfrm>
          <a:prstGeom prst="arc">
            <a:avLst/>
          </a:prstGeom>
          <a:noFill/>
          <a:ln w="12700">
            <a:solidFill>
              <a:srgbClr val="19476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arc">
            <a:avLst/>
          </a:prstGeom>
          <a:noFill/>
          <a:ln w="12700">
            <a:solidFill>
              <a:srgbClr val="2C6D8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681728" y="1024128"/>
            <a:ext cx="2816352" cy="310896"/>
          </a:xfrm>
          <a:prstGeom prst="roundRect">
            <a:avLst>
              <a:gd name="adj" fmla="val 50000"/>
            </a:avLst>
          </a:prstGeom>
          <a:solidFill>
            <a:srgbClr val="153553"/>
          </a:solidFill>
          <a:ln w="12700">
            <a:solidFill>
              <a:srgbClr val="15355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754880" y="104241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F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1956816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920240" y="29626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B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51376" y="3803904"/>
            <a:ext cx="3886200" cy="0"/>
          </a:xfrm>
          <a:prstGeom prst="line">
            <a:avLst/>
          </a:prstGeom>
          <a:noFill/>
          <a:ln w="12700">
            <a:solidFill>
              <a:srgbClr val="36516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0" y="41605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>Rule-Based Cooperative Highway Ramp Merging for Connected and Autonomous Vehicles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46268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300" b="1">
                <a:solidFill>
                  <a:srgbClr val="8EA6C2"/>
                </a:solidFill>
                <a:latin typeface="Arial"/>
              </a:rPr>
              <a:t>Pranjal Gupta  •  Swagata Barik  •  Aryan Dubey  •  Dr. Debanjan Das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30752" y="56509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0">
                <a:solidFill>
                  <a:srgbClr val="7F97B0"/>
                </a:solidFill>
                <a:latin typeface="Arial"/>
              </a:rPr>
              <a:t>Department of Computer Science and Engineering  •  IIIT Naya Raipur  •  October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IIIT Naya Raipur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/ UG Research Work</dc:title>
  <dc:subject>Redesigned Minor Project / UG Research Work Progress Presentation</dc:subject>
  <dc:creator>OpenAI</dc:creator>
  <cp:lastModifiedBy>OpenAI</cp:lastModifiedBy>
  <cp:revision>1</cp:revision>
  <dcterms:created xsi:type="dcterms:W3CDTF">2026-10-05T07:00:27Z</dcterms:created>
  <dcterms:modified xsi:type="dcterms:W3CDTF">2026-10-05T07:00:27Z</dcterms:modified>
</cp:coreProperties>
</file>