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2" r:id="rId23"/>
    <p:sldId id="271" r:id="rId22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5.xml"/><Relationship Id="rId15" Type="http://schemas.openxmlformats.org/officeDocument/2006/relationships/slide" Target="slides/slide16.xml"/><Relationship Id="rId16" Type="http://schemas.openxmlformats.org/officeDocument/2006/relationships/slide" Target="slides/slide17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14.xml"/><Relationship Id="rId23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6574536"/>
            <a:ext cx="53035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E4E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Minor Project / UG Research Work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486400" y="6574536"/>
            <a:ext cx="18288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8FA6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Progress Review</a:t>
            </a:r>
            <a:endParaRPr lang="en-US" sz="720" dirty="0"/>
          </a:p>
        </p:txBody>
      </p:sp>
      <p:sp>
        <p:nvSpPr>
          <p:cNvPr id="5" name="Text 3"/>
          <p:cNvSpPr/>
          <p:nvPr/>
        </p:nvSpPr>
        <p:spPr>
          <a:xfrm>
            <a:off x="11228832" y="6556248"/>
            <a:ext cx="4114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DCE4E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28832" y="655624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DCE4EF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28832" y="655624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DCE4EF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778240" y="-914400"/>
            <a:ext cx="4389120" cy="4389120"/>
          </a:xfrm>
          <a:prstGeom prst="arc">
            <a:avLst/>
          </a:prstGeom>
          <a:noFill/>
          <a:ln w="12700">
            <a:solidFill>
              <a:srgbClr val="1C527B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692640" y="45720"/>
            <a:ext cx="3108960" cy="3108960"/>
          </a:xfrm>
          <a:prstGeom prst="arc">
            <a:avLst/>
          </a:prstGeom>
          <a:noFill/>
          <a:ln w="12700">
            <a:solidFill>
              <a:srgbClr val="2D718C">
                <a:alpha val="8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58368" y="768096"/>
            <a:ext cx="73152" cy="5230368"/>
          </a:xfrm>
          <a:prstGeom prst="rect">
            <a:avLst/>
          </a:prstGeom>
          <a:solidFill>
            <a:srgbClr val="13A6A6"/>
          </a:solidFill>
          <a:ln w="12700">
            <a:solidFill>
              <a:srgbClr val="13A6A6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87552" y="932688"/>
            <a:ext cx="2331720" cy="310896"/>
          </a:xfrm>
          <a:prstGeom prst="roundRect">
            <a:avLst>
              <a:gd name="adj" fmla="val 50000"/>
            </a:avLst>
          </a:prstGeom>
          <a:solidFill>
            <a:srgbClr val="163552"/>
          </a:solidFill>
          <a:ln w="12700">
            <a:solidFill>
              <a:srgbClr val="163552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60704" y="950976"/>
            <a:ext cx="2185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EAE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MINOR PROJECT • UG RESEARCH WORK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987552" y="1572768"/>
            <a:ext cx="9875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2800" b="1">
                <a:solidFill>
                  <a:srgbClr val="FFFFFF"/>
                </a:solidFill>
                <a:latin typeface="Arial"/>
              </a:rPr>
              <a:t>Rule-Based Cooperative Highway Ramp Merging for CAVs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1005840" y="2761488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1800" b="0">
                <a:solidFill>
                  <a:srgbClr val="B9C8DB"/>
                </a:solidFill>
                <a:latin typeface="Arial"/>
              </a:rPr>
              <a:t>Minor Project Mid-Semester Progress Evaluation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1005840" y="3401568"/>
            <a:ext cx="5029200" cy="0"/>
          </a:xfrm>
          <a:prstGeom prst="line">
            <a:avLst/>
          </a:prstGeom>
          <a:noFill/>
          <a:ln w="12700">
            <a:solidFill>
              <a:srgbClr val="36516F"/>
            </a:solidFill>
            <a:prstDash val="solid"/>
            <a:headEnd type="none"/>
            <a:tailEnd type="none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005840" y="368503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EA6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Group Members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05840" y="3959352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1300" b="1">
                <a:solidFill>
                  <a:srgbClr val="FFFFFF"/>
                </a:solidFill>
                <a:latin typeface="Arial"/>
              </a:rPr>
              <a:t>Pranjal Gupta  •  Swagata Barik  •  Aryan Dubey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05840" y="443484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EA6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Supervisor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05840" y="4700016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1300" b="1">
                <a:solidFill>
                  <a:srgbClr val="FFFFFF"/>
                </a:solidFill>
                <a:latin typeface="Arial"/>
              </a:rPr>
              <a:t>Dr. Debanjan Das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05840" y="5989320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1200" b="0">
                <a:solidFill>
                  <a:srgbClr val="8EA6C2"/>
                </a:solidFill>
                <a:latin typeface="Arial"/>
              </a:rPr>
              <a:t>IIIT Naya Raipur  •  October 2026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086600" y="546811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sz="1200" b="0">
                <a:solidFill>
                  <a:srgbClr val="D8E4F0"/>
                </a:solidFill>
                <a:latin typeface="Arial"/>
              </a:rPr>
              <a:t>Distributed Consensus CACC with Event-Triggered Communication &amp; Safety Fail-Safe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13A6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 • STORY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F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Presentation roadmap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243584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1250">
                <a:solidFill>
                  <a:srgbClr val="5D6B7E"/>
                </a:solidFill>
                <a:latin typeface="Arial"/>
              </a:rPr>
              <a:t>A structured research journey: establishing the merging bottleneck, identifying communication gaps, presenting event-triggered CACC, and demonstrating empirical evidence.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30352" y="1673352"/>
            <a:ext cx="594360" cy="45720"/>
          </a:xfrm>
          <a:prstGeom prst="rect">
            <a:avLst/>
          </a:prstGeom>
          <a:solidFill>
            <a:srgbClr val="13A6A6"/>
          </a:solidFill>
          <a:ln w="12700">
            <a:solidFill>
              <a:srgbClr val="13A6A6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658368" y="1901952"/>
            <a:ext cx="2057400" cy="1901952"/>
          </a:xfrm>
          <a:prstGeom prst="roundRect">
            <a:avLst>
              <a:gd name="adj" fmla="val 8654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822960" y="2075688"/>
            <a:ext cx="438912" cy="310896"/>
          </a:xfrm>
          <a:prstGeom prst="roundRect">
            <a:avLst>
              <a:gd name="adj" fmla="val 50000"/>
            </a:avLst>
          </a:prstGeom>
          <a:solidFill>
            <a:srgbClr val="13A6A6"/>
          </a:solidFill>
          <a:ln w="12700">
            <a:solidFill>
              <a:srgbClr val="13A6A6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96112" y="2093976"/>
            <a:ext cx="292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22960" y="2523744"/>
            <a:ext cx="17282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B1F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22960" y="2944368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sz="1100">
                <a:solidFill>
                  <a:srgbClr val="5D6B7E"/>
                </a:solidFill>
                <a:latin typeface="Arial"/>
              </a:rPr>
              <a:t>Highway on-ramp bottlenecks &amp; CAV cooperative speed harmonization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15768" y="2843784"/>
            <a:ext cx="246888" cy="0"/>
          </a:xfrm>
          <a:prstGeom prst="line">
            <a:avLst/>
          </a:prstGeom>
          <a:noFill/>
          <a:ln w="12700">
            <a:solidFill>
              <a:srgbClr val="13A6A6"/>
            </a:solidFill>
            <a:prstDash val="solid"/>
            <a:headEnd type="none"/>
            <a:tailEnd type="none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2953512" y="1901952"/>
            <a:ext cx="2057400" cy="1901952"/>
          </a:xfrm>
          <a:prstGeom prst="roundRect">
            <a:avLst>
              <a:gd name="adj" fmla="val 8654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3118104" y="2075688"/>
            <a:ext cx="438912" cy="310896"/>
          </a:xfrm>
          <a:prstGeom prst="roundRect">
            <a:avLst>
              <a:gd name="adj" fmla="val 50000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191256" y="2093976"/>
            <a:ext cx="292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118104" y="2523744"/>
            <a:ext cx="17282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B1F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Gap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3118104" y="2944368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sz="1100">
                <a:solidFill>
                  <a:srgbClr val="5D6B7E"/>
                </a:solidFill>
                <a:latin typeface="Arial"/>
              </a:rPr>
              <a:t>Wireless channel saturation &amp; vulnerability to packet drop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10912" y="2843784"/>
            <a:ext cx="246888" cy="0"/>
          </a:xfrm>
          <a:prstGeom prst="line">
            <a:avLst/>
          </a:prstGeom>
          <a:noFill/>
          <a:ln w="12700">
            <a:solidFill>
              <a:srgbClr val="13A6A6"/>
            </a:solidFill>
            <a:prstDash val="solid"/>
            <a:headEnd type="none"/>
            <a:tailEnd type="none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5248656" y="1901952"/>
            <a:ext cx="2057400" cy="1901952"/>
          </a:xfrm>
          <a:prstGeom prst="roundRect">
            <a:avLst>
              <a:gd name="adj" fmla="val 8654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5413248" y="2075688"/>
            <a:ext cx="438912" cy="310896"/>
          </a:xfrm>
          <a:prstGeom prst="roundRect">
            <a:avLst>
              <a:gd name="adj" fmla="val 50000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486400" y="2093976"/>
            <a:ext cx="292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413248" y="2523744"/>
            <a:ext cx="17282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B1F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Method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5413248" y="2944368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sz="1100">
                <a:solidFill>
                  <a:srgbClr val="5D6B7E"/>
                </a:solidFill>
                <a:latin typeface="Arial"/>
              </a:rPr>
              <a:t>Virtual platoon sequencing + event-triggered consensus CACC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306056" y="2843784"/>
            <a:ext cx="246888" cy="0"/>
          </a:xfrm>
          <a:prstGeom prst="line">
            <a:avLst/>
          </a:prstGeom>
          <a:noFill/>
          <a:ln w="12700">
            <a:solidFill>
              <a:srgbClr val="13A6A6"/>
            </a:solidFill>
            <a:prstDash val="solid"/>
            <a:headEnd type="none"/>
            <a:tailEnd type="none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7543800" y="1901952"/>
            <a:ext cx="2057400" cy="1901952"/>
          </a:xfrm>
          <a:prstGeom prst="roundRect">
            <a:avLst>
              <a:gd name="adj" fmla="val 8654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7708392" y="2075688"/>
            <a:ext cx="438912" cy="310896"/>
          </a:xfrm>
          <a:prstGeom prst="roundRect">
            <a:avLst>
              <a:gd name="adj" fmla="val 50000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7781544" y="2093976"/>
            <a:ext cx="292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7708392" y="2523744"/>
            <a:ext cx="17282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B1F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7708392" y="2944368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sz="1100">
                <a:solidFill>
                  <a:srgbClr val="5D6B7E"/>
                </a:solidFill>
                <a:latin typeface="Arial"/>
              </a:rPr>
              <a:t>Microscopic SUMO/TraCI co-simulation &amp; packet loss benchmarks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9601200" y="2843784"/>
            <a:ext cx="246888" cy="0"/>
          </a:xfrm>
          <a:prstGeom prst="line">
            <a:avLst/>
          </a:prstGeom>
          <a:noFill/>
          <a:ln w="12700">
            <a:solidFill>
              <a:srgbClr val="13A6A6"/>
            </a:solidFill>
            <a:prstDash val="solid"/>
            <a:headEnd type="none"/>
            <a:tailEnd type="none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9838944" y="1901952"/>
            <a:ext cx="2057400" cy="1901952"/>
          </a:xfrm>
          <a:prstGeom prst="roundRect">
            <a:avLst>
              <a:gd name="adj" fmla="val 8654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10003536" y="2075688"/>
            <a:ext cx="438912" cy="310896"/>
          </a:xfrm>
          <a:prstGeom prst="roundRect">
            <a:avLst>
              <a:gd name="adj" fmla="val 50000"/>
            </a:avLst>
          </a:prstGeom>
          <a:solidFill>
            <a:srgbClr val="E46F5F"/>
          </a:solidFill>
          <a:ln w="12700">
            <a:solidFill>
              <a:srgbClr val="E46F5F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10076688" y="2093976"/>
            <a:ext cx="292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10003536" y="2523744"/>
            <a:ext cx="17282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B1F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10003536" y="2944368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sz="1100">
                <a:solidFill>
                  <a:srgbClr val="5D6B7E"/>
                </a:solidFill>
                <a:latin typeface="Arial"/>
              </a:rPr>
              <a:t>Multi-lane scaling, mixed autonomy, and saturation capacity testing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58368" y="4224528"/>
            <a:ext cx="10899648" cy="1152144"/>
          </a:xfrm>
          <a:prstGeom prst="roundRect">
            <a:avLst>
              <a:gd name="adj" fmla="val 12698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896112" y="44805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/>
        </p:txBody>
      </p:sp>
      <p:sp>
        <p:nvSpPr>
          <p:cNvPr id="37" name="Text 35"/>
          <p:cNvSpPr/>
          <p:nvPr/>
        </p:nvSpPr>
        <p:spPr>
          <a:xfrm>
            <a:off x="896112" y="437083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1050" b="1">
                <a:solidFill>
                  <a:srgbClr val="1565C0"/>
                </a:solidFill>
                <a:latin typeface="Arial"/>
              </a:rPr>
              <a:t>Presentation Flow:  </a:t>
            </a:r>
            <a:endParaRPr lang="en-US" sz="1250" dirty="0"/>
          </a:p>
          <a:p>
            <a:pPr algn="l"/>
            <a:r>
              <a:rPr sz="950" b="0">
                <a:solidFill>
                  <a:srgbClr val="334155"/>
                </a:solidFill>
                <a:latin typeface="Arial"/>
              </a:rPr>
              <a:t>Context → Motivation → Literature Gap → Problem Formulation → Methodology → Simulation Setup → Benchmark Results → Risk Analysis → Action Plan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28832" y="655624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DCE4EF"/>
                </a:solidFill>
                <a:latin typeface="Aptos"/>
                <a:ea typeface="Aptos"/>
                <a:cs typeface="Aptos"/>
              </a:defRPr>
            </a:lvl1pPr>
          </a:lstStyle>
          <a:p>
            <a:pPr>
              <a:defRPr sz="1000">
                <a:solidFill>
                  <a:srgbClr val="94A3B8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13A6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 • CONTEXT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F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Introduction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243584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1250">
                <a:solidFill>
                  <a:srgbClr val="5D6B7E"/>
                </a:solidFill>
                <a:latin typeface="Arial"/>
              </a:rPr>
              <a:t>Cooperative Automated Driving (CAD) orchestrates multi-agent vehicle merges to eliminate freeway bottleneck congestion.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30352" y="1673352"/>
            <a:ext cx="594360" cy="45720"/>
          </a:xfrm>
          <a:prstGeom prst="rect">
            <a:avLst/>
          </a:prstGeom>
          <a:solidFill>
            <a:srgbClr val="13A6A6"/>
          </a:solidFill>
          <a:ln w="12700">
            <a:solidFill>
              <a:srgbClr val="13A6A6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658368" y="1901952"/>
            <a:ext cx="5239512" cy="1444752"/>
          </a:xfrm>
          <a:prstGeom prst="roundRect">
            <a:avLst>
              <a:gd name="adj" fmla="val 10127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822960" y="2066544"/>
            <a:ext cx="402336" cy="310896"/>
          </a:xfrm>
          <a:prstGeom prst="roundRect">
            <a:avLst>
              <a:gd name="adj" fmla="val 50000"/>
            </a:avLst>
          </a:prstGeom>
          <a:solidFill>
            <a:srgbClr val="1D5FA7"/>
          </a:solidFill>
          <a:ln w="12700">
            <a:solidFill>
              <a:srgbClr val="1D5FA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96112" y="2084832"/>
            <a:ext cx="256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362456" y="208483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362456" y="2423160"/>
            <a:ext cx="42976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sz="1000" b="0">
                <a:solidFill>
                  <a:srgbClr val="334155"/>
                </a:solidFill>
                <a:latin typeface="Arial"/>
              </a:rPr>
              <a:t>• Bottleneck Friction: Uncoordinated merging triggers severe upstream shockwaves.</a:t>
            </a:r>
            <a:endParaRPr lang="en-US" sz="1150" dirty="0"/>
          </a:p>
          <a:p>
            <a:pPr algn="l"/>
            <a:r>
              <a:rPr sz="1000" b="0">
                <a:solidFill>
                  <a:srgbClr val="334155"/>
                </a:solidFill>
                <a:latin typeface="Arial"/>
              </a:rPr>
              <a:t>• Speed Asymmetry: 90 km/h highway vs 54 km/h ramp causes localized queue spillover.</a:t>
            </a:r>
          </a:p>
        </p:txBody>
      </p:sp>
      <p:sp>
        <p:nvSpPr>
          <p:cNvPr id="11" name="Shape 9"/>
          <p:cNvSpPr/>
          <p:nvPr/>
        </p:nvSpPr>
        <p:spPr>
          <a:xfrm>
            <a:off x="6144768" y="1901952"/>
            <a:ext cx="5239512" cy="1444752"/>
          </a:xfrm>
          <a:prstGeom prst="roundRect">
            <a:avLst>
              <a:gd name="adj" fmla="val 10127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6309360" y="2066544"/>
            <a:ext cx="402336" cy="310896"/>
          </a:xfrm>
          <a:prstGeom prst="roundRect">
            <a:avLst>
              <a:gd name="adj" fmla="val 50000"/>
            </a:avLst>
          </a:prstGeom>
          <a:solidFill>
            <a:srgbClr val="13A6A6"/>
          </a:solidFill>
          <a:ln w="12700">
            <a:solidFill>
              <a:srgbClr val="13A6A6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382512" y="2084832"/>
            <a:ext cx="256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848856" y="208483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scenario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48856" y="2423160"/>
            <a:ext cx="42976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sz="1000" b="0">
                <a:solidFill>
                  <a:srgbClr val="334155"/>
                </a:solidFill>
                <a:latin typeface="Arial"/>
              </a:rPr>
              <a:t>• Human Driving Limits: Selfish, abrupt lane cut-ins cause phantom traffic jams.</a:t>
            </a:r>
            <a:endParaRPr lang="en-US" sz="1150" dirty="0"/>
          </a:p>
          <a:p>
            <a:pPr algn="l"/>
            <a:r>
              <a:rPr sz="1000" b="0">
                <a:solidFill>
                  <a:srgbClr val="334155"/>
                </a:solidFill>
                <a:latin typeface="Arial"/>
              </a:rPr>
              <a:t>• Reactive ACC: Radar-only ACC reacts locally without cross-lane preview or cooperation.</a:t>
            </a:r>
          </a:p>
        </p:txBody>
      </p:sp>
      <p:sp>
        <p:nvSpPr>
          <p:cNvPr id="16" name="Shape 14"/>
          <p:cNvSpPr/>
          <p:nvPr/>
        </p:nvSpPr>
        <p:spPr>
          <a:xfrm>
            <a:off x="658368" y="3529584"/>
            <a:ext cx="5239512" cy="1444752"/>
          </a:xfrm>
          <a:prstGeom prst="roundRect">
            <a:avLst>
              <a:gd name="adj" fmla="val 10127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22960" y="3694176"/>
            <a:ext cx="402336" cy="310896"/>
          </a:xfrm>
          <a:prstGeom prst="roundRect">
            <a:avLst>
              <a:gd name="adj" fmla="val 50000"/>
            </a:avLst>
          </a:prstGeom>
          <a:solidFill>
            <a:srgbClr val="B98114"/>
          </a:solidFill>
          <a:ln w="12700">
            <a:solidFill>
              <a:srgbClr val="B98114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96112" y="3712464"/>
            <a:ext cx="256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362456" y="371246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Project scope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362456" y="4050792"/>
            <a:ext cx="42976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sz="1000" b="0">
                <a:solidFill>
                  <a:srgbClr val="334155"/>
                </a:solidFill>
                <a:latin typeface="Arial"/>
              </a:rPr>
              <a:t>• Target Geometry: 100% CAV fleet on single-lane highway + on-ramp merge junction.</a:t>
            </a:r>
            <a:endParaRPr lang="en-US" sz="1150" dirty="0"/>
          </a:p>
          <a:p>
            <a:pPr algn="l"/>
            <a:r>
              <a:rPr sz="1000" b="0">
                <a:solidFill>
                  <a:srgbClr val="334155"/>
                </a:solidFill>
                <a:latin typeface="Arial"/>
              </a:rPr>
              <a:t>• Core Innovations: Dynamic merge speed, virtual slot allocation, and event-triggered CACC.</a:t>
            </a:r>
          </a:p>
        </p:txBody>
      </p:sp>
      <p:sp>
        <p:nvSpPr>
          <p:cNvPr id="21" name="Shape 19"/>
          <p:cNvSpPr/>
          <p:nvPr/>
        </p:nvSpPr>
        <p:spPr>
          <a:xfrm>
            <a:off x="6144768" y="3529584"/>
            <a:ext cx="5239512" cy="1444752"/>
          </a:xfrm>
          <a:prstGeom prst="roundRect">
            <a:avLst>
              <a:gd name="adj" fmla="val 10127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6309360" y="3694176"/>
            <a:ext cx="402336" cy="310896"/>
          </a:xfrm>
          <a:prstGeom prst="roundRect">
            <a:avLst>
              <a:gd name="adj" fmla="val 50000"/>
            </a:avLst>
          </a:prstGeom>
          <a:solidFill>
            <a:srgbClr val="7257C7"/>
          </a:solidFill>
          <a:ln w="12700">
            <a:solidFill>
              <a:srgbClr val="7257C7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382512" y="3712464"/>
            <a:ext cx="256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848856" y="371246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outcome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848856" y="4050792"/>
            <a:ext cx="42976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sz="1000" b="0">
                <a:solidFill>
                  <a:srgbClr val="334155"/>
                </a:solidFill>
                <a:latin typeface="Arial"/>
              </a:rPr>
              <a:t>• High-Fidelity Co-Simulation: End-to-end Eclipse SUMO v1.27.1 + Python TraCI testbed.</a:t>
            </a:r>
            <a:endParaRPr lang="en-US" sz="1150" dirty="0"/>
          </a:p>
          <a:p>
            <a:pPr algn="l"/>
            <a:r>
              <a:rPr sz="1000" b="0">
                <a:solidFill>
                  <a:srgbClr val="334155"/>
                </a:solidFill>
                <a:latin typeface="Arial"/>
              </a:rPr>
              <a:t>• Channel Resilience: Event-triggered V2V with dead reckoning &amp; autonomous radar fail-safe.</a:t>
            </a:r>
          </a:p>
        </p:txBody>
      </p:sp>
      <p:sp>
        <p:nvSpPr>
          <p:cNvPr id="26" name="Shape 24"/>
          <p:cNvSpPr/>
          <p:nvPr/>
        </p:nvSpPr>
        <p:spPr>
          <a:xfrm>
            <a:off x="658368" y="5230368"/>
            <a:ext cx="10725912" cy="658368"/>
          </a:xfrm>
          <a:prstGeom prst="roundRect">
            <a:avLst>
              <a:gd name="adj" fmla="val 18056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859536" y="5404104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/>
        </p:txBody>
      </p:sp>
      <p:sp>
        <p:nvSpPr>
          <p:cNvPr id="28" name="Text 26"/>
          <p:cNvSpPr/>
          <p:nvPr/>
        </p:nvSpPr>
        <p:spPr>
          <a:xfrm>
            <a:off x="859536" y="5321808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1050" b="1">
                <a:solidFill>
                  <a:srgbClr val="1565C0"/>
                </a:solidFill>
                <a:latin typeface="Arial"/>
              </a:rPr>
              <a:t>One-Sentence Project Framing:  “Cooperative CAV merging using virtual platoon sequencing &amp; event-triggered consensus CACC — achieving collision-free merges with ~90% lower communication load.”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28832" y="655624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DCE4EF"/>
                </a:solidFill>
                <a:latin typeface="Aptos"/>
                <a:ea typeface="Aptos"/>
                <a:cs typeface="Aptos"/>
              </a:defRPr>
            </a:lvl1pPr>
          </a:lstStyle>
          <a:p>
            <a:pPr>
              <a:defRPr sz="1000">
                <a:solidFill>
                  <a:srgbClr val="94A3B8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13A6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• WHY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F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Motivation: issues &amp; challenges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243584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1250">
                <a:solidFill>
                  <a:srgbClr val="5D6B7E"/>
                </a:solidFill>
                <a:latin typeface="Arial"/>
              </a:rPr>
              <a:t>Addressing moving bottleneck conflicts while resolving physical safety and wireless channel congestion.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30352" y="1673352"/>
            <a:ext cx="594360" cy="45720"/>
          </a:xfrm>
          <a:prstGeom prst="rect">
            <a:avLst/>
          </a:prstGeom>
          <a:solidFill>
            <a:srgbClr val="13A6A6"/>
          </a:solidFill>
          <a:ln w="12700">
            <a:solidFill>
              <a:srgbClr val="13A6A6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658368" y="1920240"/>
            <a:ext cx="6629400" cy="82296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868680" y="2167128"/>
            <a:ext cx="320040" cy="320040"/>
          </a:xfrm>
          <a:prstGeom prst="ellipse">
            <a:avLst/>
          </a:prstGeom>
          <a:solidFill>
            <a:srgbClr val="E46F5F"/>
          </a:solidFill>
          <a:ln w="12700">
            <a:solidFill>
              <a:srgbClr val="E46F5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68680" y="2203704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335024" y="207568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/>
        </p:txBody>
      </p:sp>
      <p:sp>
        <p:nvSpPr>
          <p:cNvPr id="10" name="Text 8"/>
          <p:cNvSpPr/>
          <p:nvPr/>
        </p:nvSpPr>
        <p:spPr>
          <a:xfrm>
            <a:off x="1335024" y="2029968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sz="1100" b="1">
                <a:solidFill>
                  <a:srgbClr val="0F172A"/>
                </a:solidFill>
                <a:latin typeface="Arial"/>
              </a:rPr>
              <a:t>Speed Discrepancy &amp; Shockwaves</a:t>
            </a:r>
            <a:endParaRPr lang="en-US" sz="1100" dirty="0"/>
          </a:p>
          <a:p>
            <a:pPr algn="l"/>
            <a:r>
              <a:rPr sz="950" b="0">
                <a:solidFill>
                  <a:srgbClr val="334155"/>
                </a:solidFill>
                <a:latin typeface="Arial"/>
              </a:rPr>
              <a:t>Highway traffic at 25 m/s (90 km/h) vs ramp at 15 m/s (54 km/h) creates severe decelerations without anticipatory speed harmonization.</a:t>
            </a:r>
          </a:p>
        </p:txBody>
      </p:sp>
      <p:sp>
        <p:nvSpPr>
          <p:cNvPr id="11" name="Shape 9"/>
          <p:cNvSpPr/>
          <p:nvPr/>
        </p:nvSpPr>
        <p:spPr>
          <a:xfrm>
            <a:off x="658368" y="2990088"/>
            <a:ext cx="6629400" cy="82296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68680" y="3236976"/>
            <a:ext cx="320040" cy="320040"/>
          </a:xfrm>
          <a:prstGeom prst="ellipse">
            <a:avLst/>
          </a:prstGeom>
          <a:solidFill>
            <a:srgbClr val="F3C969"/>
          </a:solidFill>
          <a:ln w="12700">
            <a:solidFill>
              <a:srgbClr val="F3C969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68680" y="3273552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335024" y="3145536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/>
        </p:txBody>
      </p:sp>
      <p:sp>
        <p:nvSpPr>
          <p:cNvPr id="15" name="Text 13"/>
          <p:cNvSpPr/>
          <p:nvPr/>
        </p:nvSpPr>
        <p:spPr>
          <a:xfrm>
            <a:off x="1335024" y="3099816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sz="1100" b="1">
                <a:solidFill>
                  <a:srgbClr val="0F172A"/>
                </a:solidFill>
                <a:latin typeface="Arial"/>
              </a:rPr>
              <a:t>Wireless Channel Saturation</a:t>
            </a:r>
            <a:endParaRPr lang="en-US" sz="1100" dirty="0"/>
          </a:p>
          <a:p>
            <a:pPr algn="l"/>
            <a:r>
              <a:rPr sz="950" b="0">
                <a:solidFill>
                  <a:srgbClr val="334155"/>
                </a:solidFill>
                <a:latin typeface="Arial"/>
              </a:rPr>
              <a:t>Standard 10 Hz periodic V2V beaconing saturates 5.9 GHz DSRC / C-V2X channels during dense platooning, causing packet collision &amp; latency.</a:t>
            </a:r>
          </a:p>
        </p:txBody>
      </p:sp>
      <p:sp>
        <p:nvSpPr>
          <p:cNvPr id="16" name="Shape 14"/>
          <p:cNvSpPr/>
          <p:nvPr/>
        </p:nvSpPr>
        <p:spPr>
          <a:xfrm>
            <a:off x="658368" y="4059936"/>
            <a:ext cx="6629400" cy="82296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68680" y="4306824"/>
            <a:ext cx="320040" cy="320040"/>
          </a:xfrm>
          <a:prstGeom prst="ellipse">
            <a:avLst/>
          </a:prstGeom>
          <a:solidFill>
            <a:srgbClr val="13A6A6"/>
          </a:solidFill>
          <a:ln w="12700">
            <a:solidFill>
              <a:srgbClr val="13A6A6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68680" y="4343400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335024" y="4215384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/>
        </p:txBody>
      </p:sp>
      <p:sp>
        <p:nvSpPr>
          <p:cNvPr id="20" name="Text 18"/>
          <p:cNvSpPr/>
          <p:nvPr/>
        </p:nvSpPr>
        <p:spPr>
          <a:xfrm>
            <a:off x="1335024" y="4169664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sz="1100" b="1">
                <a:solidFill>
                  <a:srgbClr val="0F172A"/>
                </a:solidFill>
                <a:latin typeface="Arial"/>
              </a:rPr>
              <a:t>Safety vs Efficiency Dilemma</a:t>
            </a:r>
            <a:endParaRPr lang="en-US" sz="1100" dirty="0"/>
          </a:p>
          <a:p>
            <a:pPr algn="l"/>
            <a:r>
              <a:rPr sz="950" b="0">
                <a:solidFill>
                  <a:srgbClr val="334155"/>
                </a:solidFill>
                <a:latin typeface="Arial"/>
              </a:rPr>
              <a:t>Stop-and-go waves increase fuel waste and crash risk; merging controllers must guarantee string stability even under wireless packet drops.</a:t>
            </a:r>
          </a:p>
        </p:txBody>
      </p:sp>
      <p:sp>
        <p:nvSpPr>
          <p:cNvPr id="21" name="Shape 19"/>
          <p:cNvSpPr/>
          <p:nvPr/>
        </p:nvSpPr>
        <p:spPr>
          <a:xfrm>
            <a:off x="7571232" y="1920240"/>
            <a:ext cx="3813048" cy="3255264"/>
          </a:xfrm>
          <a:prstGeom prst="roundRect">
            <a:avLst>
              <a:gd name="adj" fmla="val 5618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900416" y="226771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now?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7909560" y="2761488"/>
            <a:ext cx="3063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sz="1000" b="0">
                <a:solidFill>
                  <a:srgbClr val="334155"/>
                </a:solidFill>
                <a:latin typeface="Arial"/>
              </a:rPr>
              <a:t>As CAV penetration rises, merging controllers cannot rely on infinite wireless bandwidth; algorithms must be bandwidth-frugal and loss-resilient.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909560" y="3803904"/>
            <a:ext cx="3108960" cy="0"/>
          </a:xfrm>
          <a:prstGeom prst="line">
            <a:avLst/>
          </a:prstGeom>
          <a:noFill/>
          <a:ln w="12700">
            <a:solidFill>
              <a:srgbClr val="3A5572"/>
            </a:solidFill>
            <a:prstDash val="solid"/>
            <a:headEnd type="none"/>
            <a:tailEnd type="none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7909560" y="40416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EA6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Desired change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909560" y="429768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1000" b="0">
                <a:solidFill>
                  <a:srgbClr val="1565C0"/>
                </a:solidFill>
                <a:latin typeface="Arial"/>
              </a:rPr>
              <a:t>From channel-saturating 10 Hz periodic broadcasting → to bandwidth-efficient event-triggered updates with predictive dead reckoning.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28832" y="655624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DCE4EF"/>
                </a:solidFill>
                <a:latin typeface="Aptos"/>
                <a:ea typeface="Aptos"/>
                <a:cs typeface="Aptos"/>
              </a:defRPr>
            </a:lvl1pPr>
          </a:lstStyle>
          <a:p>
            <a:pPr>
              <a:defRPr sz="1000">
                <a:solidFill>
                  <a:srgbClr val="94A3B8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13A6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 • EVIDENCE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F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Literature review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243584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1250">
                <a:solidFill>
                  <a:srgbClr val="5D6B7E"/>
                </a:solidFill>
                <a:latin typeface="Arial"/>
              </a:rPr>
              <a:t>Critical comparison of leading cooperative merging, CACC platooning, and event-triggered control methodologies.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30352" y="1673352"/>
            <a:ext cx="594360" cy="45720"/>
          </a:xfrm>
          <a:prstGeom prst="rect">
            <a:avLst/>
          </a:prstGeom>
          <a:solidFill>
            <a:srgbClr val="13A6A6"/>
          </a:solidFill>
          <a:ln w="12700">
            <a:solidFill>
              <a:srgbClr val="13A6A6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658368" y="1874520"/>
            <a:ext cx="1490472" cy="512064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1947672"/>
            <a:ext cx="1344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148840" y="1874520"/>
            <a:ext cx="1874520" cy="512064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221992" y="1947672"/>
            <a:ext cx="1728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Technique used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023360" y="1874520"/>
            <a:ext cx="1874520" cy="512064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096512" y="1947672"/>
            <a:ext cx="1728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sz="950" b="1">
                <a:solidFill>
                  <a:srgbClr val="FFFFFF"/>
                </a:solidFill>
                <a:latin typeface="Arial"/>
              </a:rPr>
              <a:t>Evaluation Simulator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897880" y="1874520"/>
            <a:ext cx="1508760" cy="512064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971032" y="1947672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sz="950" b="1">
                <a:solidFill>
                  <a:srgbClr val="FFFFFF"/>
                </a:solidFill>
                <a:latin typeface="Arial"/>
              </a:rPr>
              <a:t>Performance Metric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7406640" y="1874520"/>
            <a:ext cx="3675888" cy="512064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479792" y="1947672"/>
            <a:ext cx="35295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observation / limitation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58368" y="2386584"/>
            <a:ext cx="1490472" cy="6492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31520" y="2496312"/>
            <a:ext cx="1344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sz="930">
                <a:solidFill>
                  <a:srgbClr val="5D6B7E"/>
                </a:solidFill>
                <a:latin typeface="Arial"/>
              </a:rPr>
              <a:t>Wang et al. (2020)</a:t>
            </a:r>
            <a:endParaRPr lang="en-US" sz="930" dirty="0"/>
          </a:p>
        </p:txBody>
      </p:sp>
      <p:sp>
        <p:nvSpPr>
          <p:cNvPr id="18" name="Shape 16"/>
          <p:cNvSpPr/>
          <p:nvPr/>
        </p:nvSpPr>
        <p:spPr>
          <a:xfrm>
            <a:off x="2148840" y="2386584"/>
            <a:ext cx="1874520" cy="6492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2221992" y="2496312"/>
            <a:ext cx="17282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sz="930">
                <a:solidFill>
                  <a:srgbClr val="5D6B7E"/>
                </a:solidFill>
                <a:latin typeface="Arial"/>
              </a:rPr>
              <a:t>Consensus CACC + RSU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>
            <a:off x="4023360" y="2386584"/>
            <a:ext cx="1874520" cy="6492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4096512" y="2496312"/>
            <a:ext cx="17282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sz="930">
                <a:solidFill>
                  <a:srgbClr val="5D6B7E"/>
                </a:solidFill>
                <a:latin typeface="Arial"/>
              </a:rPr>
              <a:t>SUMO Simulation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5897880" y="2386584"/>
            <a:ext cx="1508760" cy="6492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971032" y="2496312"/>
            <a:ext cx="13624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sz="930">
                <a:solidFill>
                  <a:srgbClr val="5D6B7E"/>
                </a:solidFill>
                <a:latin typeface="Arial"/>
              </a:rPr>
              <a:t>0 Collisions (Ideal)</a:t>
            </a:r>
            <a:endParaRPr lang="en-US" sz="930" dirty="0"/>
          </a:p>
        </p:txBody>
      </p:sp>
      <p:sp>
        <p:nvSpPr>
          <p:cNvPr id="24" name="Shape 22"/>
          <p:cNvSpPr/>
          <p:nvPr/>
        </p:nvSpPr>
        <p:spPr>
          <a:xfrm>
            <a:off x="7406640" y="2386584"/>
            <a:ext cx="3675888" cy="6492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7479792" y="2496312"/>
            <a:ext cx="35295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sz="950" b="0">
                <a:solidFill>
                  <a:srgbClr val="334155"/>
                </a:solidFill>
                <a:latin typeface="Arial"/>
              </a:rPr>
              <a:t>Dynamic speed &amp; virtual slot concept; assumes ideal 0-loss, 0-delay V2X with no channel limits.</a:t>
            </a:r>
            <a:endParaRPr lang="en-US" sz="930" dirty="0"/>
          </a:p>
        </p:txBody>
      </p:sp>
      <p:sp>
        <p:nvSpPr>
          <p:cNvPr id="26" name="Shape 24"/>
          <p:cNvSpPr/>
          <p:nvPr/>
        </p:nvSpPr>
        <p:spPr>
          <a:xfrm>
            <a:off x="658368" y="3035808"/>
            <a:ext cx="1490472" cy="649224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D8DEE8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731520" y="3145536"/>
            <a:ext cx="1344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sz="930">
                <a:solidFill>
                  <a:srgbClr val="5D6B7E"/>
                </a:solidFill>
                <a:latin typeface="Arial"/>
              </a:rPr>
              <a:t>Milanes et al. (2014)</a:t>
            </a:r>
            <a:endParaRPr lang="en-US" sz="930" dirty="0"/>
          </a:p>
        </p:txBody>
      </p:sp>
      <p:sp>
        <p:nvSpPr>
          <p:cNvPr id="28" name="Shape 26"/>
          <p:cNvSpPr/>
          <p:nvPr/>
        </p:nvSpPr>
        <p:spPr>
          <a:xfrm>
            <a:off x="2148840" y="3035808"/>
            <a:ext cx="1874520" cy="649224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D8DEE8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2221992" y="3145536"/>
            <a:ext cx="17282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sz="930">
                <a:solidFill>
                  <a:srgbClr val="5D6B7E"/>
                </a:solidFill>
                <a:latin typeface="Arial"/>
              </a:rPr>
              <a:t>Empirical CACC Platoon</a:t>
            </a:r>
            <a:endParaRPr lang="en-US" sz="930" dirty="0"/>
          </a:p>
        </p:txBody>
      </p:sp>
      <p:sp>
        <p:nvSpPr>
          <p:cNvPr id="30" name="Shape 28"/>
          <p:cNvSpPr/>
          <p:nvPr/>
        </p:nvSpPr>
        <p:spPr>
          <a:xfrm>
            <a:off x="4023360" y="3035808"/>
            <a:ext cx="1874520" cy="649224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D8DEE8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4096512" y="3145536"/>
            <a:ext cx="17282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sz="930">
                <a:solidFill>
                  <a:srgbClr val="5D6B7E"/>
                </a:solidFill>
                <a:latin typeface="Arial"/>
              </a:rPr>
              <a:t>Real Vehicle Fleet</a:t>
            </a:r>
            <a:endParaRPr lang="en-US" sz="930" dirty="0"/>
          </a:p>
        </p:txBody>
      </p:sp>
      <p:sp>
        <p:nvSpPr>
          <p:cNvPr id="32" name="Shape 30"/>
          <p:cNvSpPr/>
          <p:nvPr/>
        </p:nvSpPr>
        <p:spPr>
          <a:xfrm>
            <a:off x="5897880" y="3035808"/>
            <a:ext cx="1508760" cy="649224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D8DEE8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5971032" y="3145536"/>
            <a:ext cx="13624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sz="930">
                <a:solidFill>
                  <a:srgbClr val="5D6B7E"/>
                </a:solidFill>
                <a:latin typeface="Arial"/>
              </a:rPr>
              <a:t>String Stability (10 Hz)</a:t>
            </a:r>
            <a:endParaRPr lang="en-US" sz="930" dirty="0"/>
          </a:p>
        </p:txBody>
      </p:sp>
      <p:sp>
        <p:nvSpPr>
          <p:cNvPr id="34" name="Shape 32"/>
          <p:cNvSpPr/>
          <p:nvPr/>
        </p:nvSpPr>
        <p:spPr>
          <a:xfrm>
            <a:off x="7406640" y="3035808"/>
            <a:ext cx="3675888" cy="649224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D8DEE8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7479792" y="3145536"/>
            <a:ext cx="35295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sz="950" b="0">
                <a:solidFill>
                  <a:srgbClr val="334155"/>
                </a:solidFill>
                <a:latin typeface="Arial"/>
              </a:rPr>
              <a:t>Empirical highway following; limited to single-lane platoons without ramp merge coordination.</a:t>
            </a:r>
            <a:endParaRPr lang="en-US" sz="930" dirty="0"/>
          </a:p>
        </p:txBody>
      </p:sp>
      <p:sp>
        <p:nvSpPr>
          <p:cNvPr id="36" name="Shape 34"/>
          <p:cNvSpPr/>
          <p:nvPr/>
        </p:nvSpPr>
        <p:spPr>
          <a:xfrm>
            <a:off x="658368" y="3685032"/>
            <a:ext cx="1490472" cy="6492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731520" y="3794760"/>
            <a:ext cx="1344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sz="930">
                <a:solidFill>
                  <a:srgbClr val="5D6B7E"/>
                </a:solidFill>
                <a:latin typeface="Arial"/>
              </a:rPr>
              <a:t>Rios-Torres et al. (2017)</a:t>
            </a:r>
            <a:endParaRPr lang="en-US" sz="930" dirty="0"/>
          </a:p>
        </p:txBody>
      </p:sp>
      <p:sp>
        <p:nvSpPr>
          <p:cNvPr id="38" name="Shape 36"/>
          <p:cNvSpPr/>
          <p:nvPr/>
        </p:nvSpPr>
        <p:spPr>
          <a:xfrm>
            <a:off x="2148840" y="3685032"/>
            <a:ext cx="1874520" cy="6492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2221992" y="3794760"/>
            <a:ext cx="17282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sz="930">
                <a:solidFill>
                  <a:srgbClr val="5D6B7E"/>
                </a:solidFill>
                <a:latin typeface="Arial"/>
              </a:rPr>
              <a:t>Centralized Optimal Control</a:t>
            </a:r>
            <a:endParaRPr lang="en-US" sz="930" dirty="0"/>
          </a:p>
        </p:txBody>
      </p:sp>
      <p:sp>
        <p:nvSpPr>
          <p:cNvPr id="40" name="Shape 38"/>
          <p:cNvSpPr/>
          <p:nvPr/>
        </p:nvSpPr>
        <p:spPr>
          <a:xfrm>
            <a:off x="4023360" y="3685032"/>
            <a:ext cx="1874520" cy="6492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4096512" y="3794760"/>
            <a:ext cx="17282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sz="930">
                <a:solidFill>
                  <a:srgbClr val="5D6B7E"/>
                </a:solidFill>
                <a:latin typeface="Arial"/>
              </a:rPr>
              <a:t>Analytical / MATLAB</a:t>
            </a:r>
            <a:endParaRPr lang="en-US" sz="930" dirty="0"/>
          </a:p>
        </p:txBody>
      </p:sp>
      <p:sp>
        <p:nvSpPr>
          <p:cNvPr id="42" name="Shape 40"/>
          <p:cNvSpPr/>
          <p:nvPr/>
        </p:nvSpPr>
        <p:spPr>
          <a:xfrm>
            <a:off x="5897880" y="3685032"/>
            <a:ext cx="1508760" cy="6492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5971032" y="3794760"/>
            <a:ext cx="13624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sz="930">
                <a:solidFill>
                  <a:srgbClr val="5D6B7E"/>
                </a:solidFill>
                <a:latin typeface="Arial"/>
              </a:rPr>
              <a:t>Min Fuel / Accel</a:t>
            </a:r>
            <a:endParaRPr lang="en-US" sz="930" dirty="0"/>
          </a:p>
        </p:txBody>
      </p:sp>
      <p:sp>
        <p:nvSpPr>
          <p:cNvPr id="44" name="Shape 42"/>
          <p:cNvSpPr/>
          <p:nvPr/>
        </p:nvSpPr>
        <p:spPr>
          <a:xfrm>
            <a:off x="7406640" y="3685032"/>
            <a:ext cx="3675888" cy="6492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7479792" y="3794760"/>
            <a:ext cx="35295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sz="950" b="0">
                <a:solidFill>
                  <a:srgbClr val="334155"/>
                </a:solidFill>
                <a:latin typeface="Arial"/>
              </a:rPr>
              <a:t>Centralized optimal control; computationally heavy (QP) and vulnerable to single-point RSU drop.</a:t>
            </a:r>
            <a:endParaRPr lang="en-US" sz="930" dirty="0"/>
          </a:p>
        </p:txBody>
      </p:sp>
      <p:sp>
        <p:nvSpPr>
          <p:cNvPr id="46" name="Shape 44"/>
          <p:cNvSpPr/>
          <p:nvPr/>
        </p:nvSpPr>
        <p:spPr>
          <a:xfrm>
            <a:off x="658368" y="4334256"/>
            <a:ext cx="1490472" cy="649224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D8DEE8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731520" y="4443984"/>
            <a:ext cx="1344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sz="930">
                <a:solidFill>
                  <a:srgbClr val="5D6B7E"/>
                </a:solidFill>
                <a:latin typeface="Arial"/>
              </a:rPr>
              <a:t>Molin et al. (2014)</a:t>
            </a:r>
            <a:endParaRPr lang="en-US" sz="930" dirty="0"/>
          </a:p>
        </p:txBody>
      </p:sp>
      <p:sp>
        <p:nvSpPr>
          <p:cNvPr id="48" name="Shape 46"/>
          <p:cNvSpPr/>
          <p:nvPr/>
        </p:nvSpPr>
        <p:spPr>
          <a:xfrm>
            <a:off x="2148840" y="4334256"/>
            <a:ext cx="1874520" cy="649224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D8DEE8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2221992" y="4443984"/>
            <a:ext cx="17282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sz="930">
                <a:solidFill>
                  <a:srgbClr val="5D6B7E"/>
                </a:solidFill>
                <a:latin typeface="Arial"/>
              </a:rPr>
              <a:t>Event-Triggered Consensus</a:t>
            </a:r>
            <a:endParaRPr lang="en-US" sz="930" dirty="0"/>
          </a:p>
        </p:txBody>
      </p:sp>
      <p:sp>
        <p:nvSpPr>
          <p:cNvPr id="50" name="Shape 48"/>
          <p:cNvSpPr/>
          <p:nvPr/>
        </p:nvSpPr>
        <p:spPr>
          <a:xfrm>
            <a:off x="4023360" y="4334256"/>
            <a:ext cx="1874520" cy="649224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D8DEE8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4096512" y="4443984"/>
            <a:ext cx="17282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sz="930">
                <a:solidFill>
                  <a:srgbClr val="5D6B7E"/>
                </a:solidFill>
                <a:latin typeface="Arial"/>
              </a:rPr>
              <a:t>Networked Multi-Agent</a:t>
            </a:r>
            <a:endParaRPr lang="en-US" sz="930" dirty="0"/>
          </a:p>
        </p:txBody>
      </p:sp>
      <p:sp>
        <p:nvSpPr>
          <p:cNvPr id="52" name="Shape 50"/>
          <p:cNvSpPr/>
          <p:nvPr/>
        </p:nvSpPr>
        <p:spPr>
          <a:xfrm>
            <a:off x="5897880" y="4334256"/>
            <a:ext cx="1508760" cy="649224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D8DEE8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5971032" y="4443984"/>
            <a:ext cx="13624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sz="930">
                <a:solidFill>
                  <a:srgbClr val="5D6B7E"/>
                </a:solidFill>
                <a:latin typeface="Arial"/>
              </a:rPr>
              <a:t>Bounded Error</a:t>
            </a:r>
            <a:endParaRPr lang="en-US" sz="930" dirty="0"/>
          </a:p>
        </p:txBody>
      </p:sp>
      <p:sp>
        <p:nvSpPr>
          <p:cNvPr id="54" name="Shape 52"/>
          <p:cNvSpPr/>
          <p:nvPr/>
        </p:nvSpPr>
        <p:spPr>
          <a:xfrm>
            <a:off x="7406640" y="4334256"/>
            <a:ext cx="3675888" cy="649224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D8DEE8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7479792" y="4443984"/>
            <a:ext cx="35295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sz="950" b="0">
                <a:solidFill>
                  <a:srgbClr val="334155"/>
                </a:solidFill>
                <a:latin typeface="Arial"/>
              </a:rPr>
              <a:t>Event-triggered consensus proofs; lacks realistic highway geometry, speed asymmetry, or SUMO physics.</a:t>
            </a:r>
            <a:endParaRPr lang="en-US" sz="930" dirty="0"/>
          </a:p>
        </p:txBody>
      </p:sp>
      <p:sp>
        <p:nvSpPr>
          <p:cNvPr id="56" name="Shape 54"/>
          <p:cNvSpPr/>
          <p:nvPr/>
        </p:nvSpPr>
        <p:spPr>
          <a:xfrm>
            <a:off x="658368" y="5266944"/>
            <a:ext cx="10725912" cy="658368"/>
          </a:xfrm>
          <a:prstGeom prst="roundRect">
            <a:avLst>
              <a:gd name="adj" fmla="val 19444"/>
            </a:avLst>
          </a:prstGeom>
          <a:solidFill>
            <a:srgbClr val="EAF6F4"/>
          </a:solidFill>
          <a:ln w="12700">
            <a:solidFill>
              <a:srgbClr val="D8ECE9"/>
            </a:solidFill>
            <a:prstDash val="solid"/>
          </a:ln>
        </p:spPr>
        <p:txBody>
          <a:bodyPr/>
          <a:p/>
        </p:txBody>
      </p:sp>
      <p:sp>
        <p:nvSpPr>
          <p:cNvPr id="57" name="Text 55"/>
          <p:cNvSpPr/>
          <p:nvPr/>
        </p:nvSpPr>
        <p:spPr>
          <a:xfrm>
            <a:off x="868680" y="5449824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/>
        </p:txBody>
      </p:sp>
      <p:sp>
        <p:nvSpPr>
          <p:cNvPr id="58" name="Text 56"/>
          <p:cNvSpPr/>
          <p:nvPr/>
        </p:nvSpPr>
        <p:spPr>
          <a:xfrm>
            <a:off x="868680" y="5376672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1050" b="1">
                <a:solidFill>
                  <a:srgbClr val="1565C0"/>
                </a:solidFill>
                <a:latin typeface="Arial"/>
              </a:rPr>
              <a:t>Key Literature Gap:  Existing works either assume unrealistic zero-loss channels or suffer severe spectrum saturation under continuous 10 Hz broadcasting.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28832" y="655624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DCE4EF"/>
                </a:solidFill>
                <a:latin typeface="Aptos"/>
                <a:ea typeface="Aptos"/>
                <a:cs typeface="Aptos"/>
              </a:defRPr>
            </a:lvl1pPr>
          </a:lstStyle>
          <a:p>
            <a:pPr>
              <a:defRPr sz="1000">
                <a:solidFill>
                  <a:srgbClr val="94A3B8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13A6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 • FOCUS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F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Problem definition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243584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1250">
                <a:solidFill>
                  <a:srgbClr val="5D6B7E"/>
                </a:solidFill>
                <a:latin typeface="Arial"/>
              </a:rPr>
              <a:t>Mathematical formalization of cooperative ramp merging under communication constraints.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30352" y="1673352"/>
            <a:ext cx="594360" cy="45720"/>
          </a:xfrm>
          <a:prstGeom prst="rect">
            <a:avLst/>
          </a:prstGeom>
          <a:solidFill>
            <a:srgbClr val="13A6A6"/>
          </a:solidFill>
          <a:ln w="12700">
            <a:solidFill>
              <a:srgbClr val="13A6A6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658368" y="1892808"/>
            <a:ext cx="6903720" cy="3566160"/>
          </a:xfrm>
          <a:prstGeom prst="roundRect">
            <a:avLst>
              <a:gd name="adj" fmla="val 5128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932688" y="2167128"/>
            <a:ext cx="1691640" cy="310896"/>
          </a:xfrm>
          <a:prstGeom prst="roundRect">
            <a:avLst>
              <a:gd name="adj" fmla="val 50000"/>
            </a:avLst>
          </a:prstGeom>
          <a:solidFill>
            <a:srgbClr val="173552"/>
          </a:solidFill>
          <a:ln w="12700">
            <a:solidFill>
              <a:srgbClr val="173552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2185416"/>
            <a:ext cx="1545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EDF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PROBLEM STATEMENT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950976" y="2761488"/>
            <a:ext cx="61081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1100" b="0">
                <a:solidFill>
                  <a:srgbClr val="0F172A"/>
                </a:solidFill>
                <a:latin typeface="Arial"/>
              </a:rPr>
              <a:t>“Given asymmetric CAV streams on a main highway (25 m/s) and an on-ramp (15 m/s), design a distributed coordination system that dynamically determines a bottleneck merge speed, assigns conflict-free arrival slots, and executes consensus control under bandwidth-constrained and lossy wireless channels without collisions.”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960120" y="4370832"/>
            <a:ext cx="5806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sz="1050" b="1">
                <a:solidFill>
                  <a:srgbClr val="1565C0"/>
                </a:solidFill>
                <a:latin typeface="Arial"/>
              </a:rPr>
              <a:t>Objective: Minimize V2X communication load while guaranteeing string stability, zero collisions, and passenger comfort.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845552" y="1892808"/>
            <a:ext cx="3538728" cy="850392"/>
          </a:xfrm>
          <a:prstGeom prst="roundRect">
            <a:avLst>
              <a:gd name="adj" fmla="val 15054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028432" y="2075688"/>
            <a:ext cx="841248" cy="310896"/>
          </a:xfrm>
          <a:prstGeom prst="roundRect">
            <a:avLst>
              <a:gd name="adj" fmla="val 50000"/>
            </a:avLst>
          </a:prstGeom>
          <a:solidFill>
            <a:srgbClr val="1D5FA7"/>
          </a:solidFill>
          <a:ln w="12700">
            <a:solidFill>
              <a:srgbClr val="1D5FA7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101584" y="2093976"/>
            <a:ext cx="6949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9034272" y="2011680"/>
            <a:ext cx="2075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sz="1050">
                <a:solidFill>
                  <a:srgbClr val="5D6B7E"/>
                </a:solidFill>
                <a:latin typeface="Arial"/>
              </a:rPr>
              <a:t>Vehicle telemetry (t, x, v, a) from highway and ramp detectors; road geometry (ramp 368m, main 400m); speed limits (30 m/s); safe headways (1.5s).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845552" y="2980944"/>
            <a:ext cx="3538728" cy="850392"/>
          </a:xfrm>
          <a:prstGeom prst="roundRect">
            <a:avLst>
              <a:gd name="adj" fmla="val 15054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8028432" y="3163824"/>
            <a:ext cx="841248" cy="310896"/>
          </a:xfrm>
          <a:prstGeom prst="roundRect">
            <a:avLst>
              <a:gd name="adj" fmla="val 50000"/>
            </a:avLst>
          </a:prstGeom>
          <a:solidFill>
            <a:srgbClr val="E46F5F"/>
          </a:solidFill>
          <a:ln w="12700">
            <a:solidFill>
              <a:srgbClr val="E46F5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101584" y="3182112"/>
            <a:ext cx="6949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CONSTRAINT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034272" y="3099816"/>
            <a:ext cx="2075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sz="1050">
                <a:solidFill>
                  <a:srgbClr val="5D6B7E"/>
                </a:solidFill>
                <a:latin typeface="Arial"/>
              </a:rPr>
              <a:t>Comfortable accel bounds [-3.0, +2.0] m/s², symmetric jerk limit ≤ 2.5 m/s³, wireless packet loss (up to 30%), and autonomous radar fail-safe threshold (TTC &lt; 2.0s).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845552" y="4069080"/>
            <a:ext cx="3538728" cy="850392"/>
          </a:xfrm>
          <a:prstGeom prst="roundRect">
            <a:avLst>
              <a:gd name="adj" fmla="val 15054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8028432" y="4251960"/>
            <a:ext cx="841248" cy="310896"/>
          </a:xfrm>
          <a:prstGeom prst="roundRect">
            <a:avLst>
              <a:gd name="adj" fmla="val 50000"/>
            </a:avLst>
          </a:prstGeom>
          <a:solidFill>
            <a:srgbClr val="13A6A6"/>
          </a:solidFill>
          <a:ln w="12700">
            <a:solidFill>
              <a:srgbClr val="13A6A6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8101584" y="4270248"/>
            <a:ext cx="6949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9034272" y="4187952"/>
            <a:ext cx="2075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sz="1050">
                <a:solidFill>
                  <a:srgbClr val="5D6B7E"/>
                </a:solidFill>
                <a:latin typeface="Arial"/>
              </a:rPr>
              <a:t>Conflict-free virtual sequence, continuous acceleration command a_cmd(t), event-triggered broadcast decisions, and emergency fail-safe actuation.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28832" y="655624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DCE4EF"/>
                </a:solidFill>
                <a:latin typeface="Aptos"/>
                <a:ea typeface="Aptos"/>
                <a:cs typeface="Aptos"/>
              </a:defRPr>
            </a:lvl1pPr>
          </a:lstStyle>
          <a:p>
            <a:pPr>
              <a:defRPr sz="1000">
                <a:solidFill>
                  <a:srgbClr val="94A3B8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13A6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 • GAP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F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Research gap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243584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1250">
                <a:solidFill>
                  <a:srgbClr val="5D6B7E"/>
                </a:solidFill>
                <a:latin typeface="Arial"/>
              </a:rPr>
              <a:t>Explicit breakdown of shortcomings in state-of-the-art cooperative merging research.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30352" y="1673352"/>
            <a:ext cx="594360" cy="45720"/>
          </a:xfrm>
          <a:prstGeom prst="rect">
            <a:avLst/>
          </a:prstGeom>
          <a:solidFill>
            <a:srgbClr val="13A6A6"/>
          </a:solidFill>
          <a:ln w="12700">
            <a:solidFill>
              <a:srgbClr val="13A6A6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658368" y="1965960"/>
            <a:ext cx="3364992" cy="2267712"/>
          </a:xfrm>
          <a:prstGeom prst="roundRect">
            <a:avLst>
              <a:gd name="adj" fmla="val 7258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859536" y="2176272"/>
            <a:ext cx="786384" cy="310896"/>
          </a:xfrm>
          <a:prstGeom prst="roundRect">
            <a:avLst>
              <a:gd name="adj" fmla="val 50000"/>
            </a:avLst>
          </a:prstGeom>
          <a:solidFill>
            <a:srgbClr val="1D5FA7"/>
          </a:solidFill>
          <a:ln w="12700">
            <a:solidFill>
              <a:srgbClr val="1D5FA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32688" y="219456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Gap 01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68680" y="2660904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Coverage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68680" y="3127248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sz="1000" b="0">
                <a:solidFill>
                  <a:srgbClr val="334155"/>
                </a:solidFill>
                <a:latin typeface="Arial"/>
              </a:rPr>
              <a:t>Ideal Channel Assumption: Prior studies evaluate under perfect wireless links, ignoring bursty loss and transmission delays.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456432" y="3547872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/>
        </p:txBody>
      </p:sp>
      <p:sp>
        <p:nvSpPr>
          <p:cNvPr id="12" name="Shape 10"/>
          <p:cNvSpPr/>
          <p:nvPr/>
        </p:nvSpPr>
        <p:spPr>
          <a:xfrm>
            <a:off x="4288536" y="1965960"/>
            <a:ext cx="3364992" cy="2267712"/>
          </a:xfrm>
          <a:prstGeom prst="roundRect">
            <a:avLst>
              <a:gd name="adj" fmla="val 7258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489704" y="2176272"/>
            <a:ext cx="786384" cy="310896"/>
          </a:xfrm>
          <a:prstGeom prst="roundRect">
            <a:avLst>
              <a:gd name="adj" fmla="val 50000"/>
            </a:avLst>
          </a:prstGeom>
          <a:solidFill>
            <a:srgbClr val="E46F5F"/>
          </a:solidFill>
          <a:ln w="12700">
            <a:solidFill>
              <a:srgbClr val="E46F5F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562856" y="219456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Gap 02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498848" y="2660904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Method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498848" y="3127248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sz="1000" b="0">
                <a:solidFill>
                  <a:srgbClr val="334155"/>
                </a:solidFill>
                <a:latin typeface="Arial"/>
              </a:rPr>
              <a:t>Beacon Saturation: Standard 10 Hz periodic V2V floods the channel with redundant cruising telemetry in dense traffic.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086600" y="3547872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/>
        </p:txBody>
      </p:sp>
      <p:sp>
        <p:nvSpPr>
          <p:cNvPr id="18" name="Shape 16"/>
          <p:cNvSpPr/>
          <p:nvPr/>
        </p:nvSpPr>
        <p:spPr>
          <a:xfrm>
            <a:off x="7918704" y="1965960"/>
            <a:ext cx="3364992" cy="2267712"/>
          </a:xfrm>
          <a:prstGeom prst="roundRect">
            <a:avLst>
              <a:gd name="adj" fmla="val 7258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8119872" y="2176272"/>
            <a:ext cx="786384" cy="310896"/>
          </a:xfrm>
          <a:prstGeom prst="roundRect">
            <a:avLst>
              <a:gd name="adj" fmla="val 50000"/>
            </a:avLst>
          </a:prstGeom>
          <a:solidFill>
            <a:srgbClr val="13A6A6"/>
          </a:solidFill>
          <a:ln w="12700">
            <a:solidFill>
              <a:srgbClr val="13A6A6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193024" y="219456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Gap 03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129016" y="2660904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129016" y="3127248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sz="1000" b="0">
                <a:solidFill>
                  <a:srgbClr val="334155"/>
                </a:solidFill>
                <a:latin typeface="Arial"/>
              </a:rPr>
              <a:t>Unprotected Failover: Systems lack autonomous onboard radar fail-safes to prevent crashes when communication blacks out.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10716768" y="3547872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/>
        </p:txBody>
      </p:sp>
      <p:sp>
        <p:nvSpPr>
          <p:cNvPr id="24" name="Shape 22"/>
          <p:cNvSpPr/>
          <p:nvPr/>
        </p:nvSpPr>
        <p:spPr>
          <a:xfrm>
            <a:off x="658368" y="4590288"/>
            <a:ext cx="10826496" cy="896112"/>
          </a:xfrm>
          <a:prstGeom prst="roundRect">
            <a:avLst>
              <a:gd name="adj" fmla="val 14286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886968" y="4846320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/>
        </p:txBody>
      </p:sp>
      <p:sp>
        <p:nvSpPr>
          <p:cNvPr id="26" name="Text 24"/>
          <p:cNvSpPr/>
          <p:nvPr/>
        </p:nvSpPr>
        <p:spPr>
          <a:xfrm>
            <a:off x="886968" y="4754880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1050" b="1">
                <a:solidFill>
                  <a:srgbClr val="1565C0"/>
                </a:solidFill>
                <a:latin typeface="Arial"/>
              </a:rPr>
              <a:t>Our Proposed Solution:  Event-Triggered V2V + Dead Reckoning + Autonomous Radar Fail-Safe, cutting communication overhead by ~90% while guaranteeing zero collisions.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28832" y="655624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DCE4EF"/>
                </a:solidFill>
                <a:latin typeface="Aptos"/>
                <a:ea typeface="Aptos"/>
                <a:cs typeface="Aptos"/>
              </a:defRPr>
            </a:lvl1pPr>
          </a:lstStyle>
          <a:p>
            <a:pPr>
              <a:defRPr sz="1000">
                <a:solidFill>
                  <a:srgbClr val="94A3B8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13A6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 • TARGET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F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Objectives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243584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1250">
                <a:solidFill>
                  <a:srgbClr val="5D6B7E"/>
                </a:solidFill>
                <a:latin typeface="Arial"/>
              </a:rPr>
              <a:t>Actionable, testable research milestones for the minor project.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30352" y="1673352"/>
            <a:ext cx="594360" cy="45720"/>
          </a:xfrm>
          <a:prstGeom prst="rect">
            <a:avLst/>
          </a:prstGeom>
          <a:solidFill>
            <a:srgbClr val="13A6A6"/>
          </a:solidFill>
          <a:ln w="12700">
            <a:solidFill>
              <a:srgbClr val="13A6A6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58368" y="1901952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13A6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objective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" y="2212848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2300" b="1">
                <a:solidFill>
                  <a:srgbClr val="0B1F3A"/>
                </a:solidFill>
                <a:latin typeface="Arial"/>
              </a:rPr>
              <a:t>Develop, simulate, and benchmark an event-triggered, consensus-driven cooperative merging framework for CAVs that substantially reduces wireless communication load while targeting collision-free operation under ideal and lossy channels.</a:t>
            </a:r>
            <a:endParaRPr lang="en-US" sz="2300" dirty="0"/>
          </a:p>
        </p:txBody>
      </p:sp>
      <p:sp>
        <p:nvSpPr>
          <p:cNvPr id="8" name="Shape 6"/>
          <p:cNvSpPr/>
          <p:nvPr/>
        </p:nvSpPr>
        <p:spPr>
          <a:xfrm>
            <a:off x="5897880" y="1874520"/>
            <a:ext cx="5486400" cy="658368"/>
          </a:xfrm>
          <a:prstGeom prst="roundRect">
            <a:avLst>
              <a:gd name="adj" fmla="val 18056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071616" y="2039112"/>
            <a:ext cx="347472" cy="310896"/>
          </a:xfrm>
          <a:prstGeom prst="roundRect">
            <a:avLst>
              <a:gd name="adj" fmla="val 50000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144768" y="2057400"/>
            <a:ext cx="2011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565392" y="2002536"/>
            <a:ext cx="1005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1100" b="1">
                <a:solidFill>
                  <a:srgbClr val="13A6A6"/>
                </a:solidFill>
                <a:latin typeface="Arial"/>
              </a:rPr>
              <a:t>Model &amp; Formalize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626096" y="1984248"/>
            <a:ext cx="3401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1000" b="0">
                <a:solidFill>
                  <a:srgbClr val="334155"/>
                </a:solidFill>
                <a:latin typeface="Arial"/>
              </a:rPr>
              <a:t>Kinematic arrival projections, dynamic merge speed (v_m = 25 m/s), and virtual platoon coordinate mapping.</a:t>
            </a:r>
            <a:endParaRPr lang="en-US" sz="1070" dirty="0"/>
          </a:p>
        </p:txBody>
      </p:sp>
      <p:sp>
        <p:nvSpPr>
          <p:cNvPr id="13" name="Shape 11"/>
          <p:cNvSpPr/>
          <p:nvPr/>
        </p:nvSpPr>
        <p:spPr>
          <a:xfrm>
            <a:off x="5897880" y="2697480"/>
            <a:ext cx="5486400" cy="658368"/>
          </a:xfrm>
          <a:prstGeom prst="roundRect">
            <a:avLst>
              <a:gd name="adj" fmla="val 18056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071616" y="2862072"/>
            <a:ext cx="347472" cy="310896"/>
          </a:xfrm>
          <a:prstGeom prst="roundRect">
            <a:avLst>
              <a:gd name="adj" fmla="val 50000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144768" y="2880360"/>
            <a:ext cx="2011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565392" y="2825496"/>
            <a:ext cx="1005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1100" b="1">
                <a:solidFill>
                  <a:srgbClr val="13A6A6"/>
                </a:solidFill>
                <a:latin typeface="Arial"/>
              </a:rPr>
              <a:t>Design &amp; Implement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626096" y="2807208"/>
            <a:ext cx="3401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1000" b="0">
                <a:solidFill>
                  <a:srgbClr val="334155"/>
                </a:solidFill>
                <a:latin typeface="Arial"/>
              </a:rPr>
              <a:t>Low-frequency RSU slot allocation (0.5 Hz) + distributed event-triggered CACC with dead reckoning.</a:t>
            </a:r>
            <a:endParaRPr lang="en-US" sz="1070" dirty="0"/>
          </a:p>
        </p:txBody>
      </p:sp>
      <p:sp>
        <p:nvSpPr>
          <p:cNvPr id="18" name="Shape 16"/>
          <p:cNvSpPr/>
          <p:nvPr/>
        </p:nvSpPr>
        <p:spPr>
          <a:xfrm>
            <a:off x="5897880" y="3520440"/>
            <a:ext cx="5486400" cy="658368"/>
          </a:xfrm>
          <a:prstGeom prst="roundRect">
            <a:avLst>
              <a:gd name="adj" fmla="val 18056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071616" y="3685032"/>
            <a:ext cx="347472" cy="310896"/>
          </a:xfrm>
          <a:prstGeom prst="roundRect">
            <a:avLst>
              <a:gd name="adj" fmla="val 50000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144768" y="3703320"/>
            <a:ext cx="2011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565392" y="3648456"/>
            <a:ext cx="1005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1100" b="1">
                <a:solidFill>
                  <a:srgbClr val="13A6A6"/>
                </a:solidFill>
                <a:latin typeface="Arial"/>
              </a:rPr>
              <a:t>Benchmark &amp; Simulate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626096" y="3630168"/>
            <a:ext cx="3401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1000" b="0">
                <a:solidFill>
                  <a:srgbClr val="334155"/>
                </a:solidFill>
                <a:latin typeface="Arial"/>
              </a:rPr>
              <a:t>SUMO/TraCI microscopic simulations evaluating throughput, communication overhead, and string stability.</a:t>
            </a:r>
            <a:endParaRPr lang="en-US" sz="1070" dirty="0"/>
          </a:p>
        </p:txBody>
      </p:sp>
      <p:sp>
        <p:nvSpPr>
          <p:cNvPr id="23" name="Shape 21"/>
          <p:cNvSpPr/>
          <p:nvPr/>
        </p:nvSpPr>
        <p:spPr>
          <a:xfrm>
            <a:off x="5897880" y="4343400"/>
            <a:ext cx="5486400" cy="658368"/>
          </a:xfrm>
          <a:prstGeom prst="roundRect">
            <a:avLst>
              <a:gd name="adj" fmla="val 18056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6071616" y="4507992"/>
            <a:ext cx="347472" cy="310896"/>
          </a:xfrm>
          <a:prstGeom prst="roundRect">
            <a:avLst>
              <a:gd name="adj" fmla="val 50000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144768" y="4526280"/>
            <a:ext cx="2011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565392" y="4471416"/>
            <a:ext cx="1005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1100" b="1">
                <a:solidFill>
                  <a:srgbClr val="13A6A6"/>
                </a:solidFill>
                <a:latin typeface="Arial"/>
              </a:rPr>
              <a:t>Stress-Test &amp; Analyze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626096" y="4453128"/>
            <a:ext cx="3401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1000" b="0">
                <a:solidFill>
                  <a:srgbClr val="334155"/>
                </a:solidFill>
                <a:latin typeface="Arial"/>
              </a:rPr>
              <a:t>Empirical packet loss benchmarks (0%, 10%, 30%) and autonomous radar fail-safe validation.</a:t>
            </a:r>
            <a:endParaRPr lang="en-US" sz="1070" dirty="0"/>
          </a:p>
        </p:txBody>
      </p:sp>
      <p:sp>
        <p:nvSpPr>
          <p:cNvPr id="28" name="Shape 26"/>
          <p:cNvSpPr/>
          <p:nvPr/>
        </p:nvSpPr>
        <p:spPr>
          <a:xfrm>
            <a:off x="658368" y="4544568"/>
            <a:ext cx="4800600" cy="969264"/>
          </a:xfrm>
          <a:prstGeom prst="roundRect">
            <a:avLst>
              <a:gd name="adj" fmla="val 14151"/>
            </a:avLst>
          </a:prstGeom>
          <a:solidFill>
            <a:srgbClr val="DDF4F1"/>
          </a:solidFill>
          <a:ln w="12700">
            <a:solidFill>
              <a:srgbClr val="D0E9E4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877824" y="4773168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/>
        </p:txBody>
      </p:sp>
      <p:sp>
        <p:nvSpPr>
          <p:cNvPr id="30" name="Text 28"/>
          <p:cNvSpPr/>
          <p:nvPr/>
        </p:nvSpPr>
        <p:spPr>
          <a:xfrm>
            <a:off x="877824" y="470916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1050" b="1">
                <a:solidFill>
                  <a:srgbClr val="1565C0"/>
                </a:solidFill>
                <a:latin typeface="Arial"/>
              </a:rPr>
              <a:t>Target Success Criteria:  Zero collisions across all runs, ≥ 80% reduction in V2V packets, and stable headway convergence under both perfect and lossy channels.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28832" y="655624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DCE4EF"/>
                </a:solidFill>
                <a:latin typeface="Aptos"/>
                <a:ea typeface="Aptos"/>
                <a:cs typeface="Aptos"/>
              </a:defRPr>
            </a:lvl1pPr>
          </a:lstStyle>
          <a:p>
            <a:pPr>
              <a:defRPr sz="1000">
                <a:solidFill>
                  <a:srgbClr val="94A3B8"/>
                </a:solidFill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13A6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 • METHOD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F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Proposed framework / methodology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243584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1250">
                <a:solidFill>
                  <a:srgbClr val="5D6B7E"/>
                </a:solidFill>
                <a:latin typeface="Arial"/>
              </a:rPr>
              <a:t>Hierarchical architecture: Centralized RSU virtual sequencing combined with distributed event-triggered consensus CACC and radar fail-safe.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30352" y="1673352"/>
            <a:ext cx="594360" cy="45720"/>
          </a:xfrm>
          <a:prstGeom prst="rect">
            <a:avLst/>
          </a:prstGeom>
          <a:solidFill>
            <a:srgbClr val="13A6A6"/>
          </a:solidFill>
          <a:ln w="12700">
            <a:solidFill>
              <a:srgbClr val="13A6A6"/>
            </a:solidFill>
            <a:prstDash val="solid"/>
          </a:ln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658368" y="4041648"/>
            <a:ext cx="6583680" cy="1417320"/>
          </a:xfrm>
          <a:prstGeom prst="roundRect">
            <a:avLst>
              <a:gd name="adj" fmla="val 10323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896112" y="4315968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/>
        </p:txBody>
      </p:sp>
      <p:sp>
        <p:nvSpPr>
          <p:cNvPr id="48" name="Text 46"/>
          <p:cNvSpPr/>
          <p:nvPr/>
        </p:nvSpPr>
        <p:spPr>
          <a:xfrm>
            <a:off x="896112" y="4251960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1100" b="1">
                <a:solidFill>
                  <a:srgbClr val="0F172A"/>
                </a:solidFill>
                <a:latin typeface="Arial"/>
              </a:rPr>
              <a:t>Macro-Coordination: 0.5 Hz RSU Slot Allocation</a:t>
            </a:r>
            <a:endParaRPr lang="en-US" sz="1700" dirty="0"/>
          </a:p>
          <a:p>
            <a:pPr algn="l"/>
            <a:r>
              <a:rPr sz="950" b="0">
                <a:solidFill>
                  <a:srgbClr val="334155"/>
                </a:solidFill>
                <a:latin typeface="Arial"/>
              </a:rPr>
              <a:t>• RSU detects vehicles at 368 m detection threshold and estimates dynamic bottleneck speed v_m = 25 m/s.</a:t>
            </a:r>
          </a:p>
          <a:p>
            <a:pPr algn="l"/>
            <a:r>
              <a:rPr sz="950" b="0">
                <a:solidFill>
                  <a:srgbClr val="334155"/>
                </a:solidFill>
                <a:latin typeface="Arial"/>
              </a:rPr>
              <a:t>• Calculates kinematic ETA and assigns conflict-free virtual FIFO sequence with 1.5 s time headway.</a:t>
            </a:r>
          </a:p>
          <a:p>
            <a:pPr algn="l"/>
            <a:r>
              <a:rPr sz="950" b="0">
                <a:solidFill>
                  <a:srgbClr val="334155"/>
                </a:solidFill>
                <a:latin typeface="Arial"/>
              </a:rPr>
              <a:t>• Infrequent 0.5 Hz downlink preserves infrastructure bandwidth.</a:t>
            </a:r>
          </a:p>
        </p:txBody>
      </p:sp>
      <p:sp>
        <p:nvSpPr>
          <p:cNvPr id="49" name="Text 47"/>
          <p:cNvSpPr/>
          <p:nvPr/>
        </p:nvSpPr>
        <p:spPr>
          <a:xfrm>
            <a:off x="2084832" y="4690872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/>
        </p:txBody>
      </p:sp>
      <p:sp>
        <p:nvSpPr>
          <p:cNvPr id="50" name="Shape 48"/>
          <p:cNvSpPr/>
          <p:nvPr/>
        </p:nvSpPr>
        <p:spPr>
          <a:xfrm>
            <a:off x="7516368" y="4041648"/>
            <a:ext cx="3895344" cy="1417320"/>
          </a:xfrm>
          <a:prstGeom prst="roundRect">
            <a:avLst>
              <a:gd name="adj" fmla="val 10323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6217920" y="4251960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1100" b="1">
                <a:solidFill>
                  <a:srgbClr val="0F172A"/>
                </a:solidFill>
                <a:latin typeface="Arial"/>
              </a:rPr>
              <a:t>Micro-Execution: 10 Hz Distributed CACC &amp; Fail-Safe</a:t>
            </a:r>
            <a:endParaRPr lang="en-US" sz="1000" dirty="0"/>
          </a:p>
          <a:p>
            <a:pPr algn="l"/>
            <a:r>
              <a:rPr sz="950" b="0">
                <a:solidFill>
                  <a:srgbClr val="334155"/>
                </a:solidFill>
                <a:latin typeface="Arial"/>
              </a:rPr>
              <a:t>• Consensus Law: a = -kp*(d_des - gap_ghost) - kv*(v - v_pred) with comfort bounds [-3.0, +2.0] m/s².</a:t>
            </a:r>
          </a:p>
          <a:p>
            <a:pPr algn="l"/>
            <a:r>
              <a:rPr sz="950" b="0">
                <a:solidFill>
                  <a:srgbClr val="334155"/>
                </a:solidFill>
                <a:latin typeface="Arial"/>
              </a:rPr>
              <a:t>• Event-Trigger: Broadcasts only on Δv ≥ 0.3 m/s, Δd ≥ 0.5 m, or 1.0 s heartbeat (suppresses ~90% packets).</a:t>
            </a:r>
          </a:p>
          <a:p>
            <a:pPr algn="l"/>
            <a:r>
              <a:rPr sz="950" b="0">
                <a:solidFill>
                  <a:srgbClr val="334155"/>
                </a:solidFill>
                <a:latin typeface="Arial"/>
              </a:rPr>
              <a:t>• Dead Reckoning: Linear extrapolation d_pred = d - v*Δt bridges packet dropouts without false braking.</a:t>
            </a:r>
          </a:p>
          <a:p>
            <a:pPr algn="l"/>
            <a:r>
              <a:rPr sz="950" b="0">
                <a:solidFill>
                  <a:srgbClr val="DC2626"/>
                </a:solidFill>
                <a:latin typeface="Arial"/>
              </a:rPr>
              <a:t>• Autonomous Fail-Safe: Onboard radar overrides control if TTC &lt; 2.0 s.</a:t>
            </a:r>
          </a:p>
        </p:txBody>
      </p:sp>
      <p:sp>
        <p:nvSpPr>
          <p:cNvPr id="52" name="Text 50"/>
          <p:cNvSpPr/>
          <p:nvPr/>
        </p:nvSpPr>
        <p:spPr>
          <a:xfrm>
            <a:off x="7772400" y="4645152"/>
            <a:ext cx="31546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/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28832" y="655624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DCE4EF"/>
                </a:solidFill>
                <a:latin typeface="Aptos"/>
                <a:ea typeface="Aptos"/>
                <a:cs typeface="Aptos"/>
              </a:defRPr>
            </a:lvl1pPr>
          </a:lstStyle>
          <a:p>
            <a:pPr>
              <a:defRPr sz="1000">
                <a:solidFill>
                  <a:srgbClr val="94A3B8"/>
                </a:solidFill>
              </a:defRPr>
            </a:pPr>
            <a:r>
              <a:t>9</a:t>
            </a:r>
          </a:p>
        </p:txBody>
      </p:sp>
      <p:pic>
        <p:nvPicPr>
          <p:cNvPr id="53" name="Picture 52" descr="system_architecture_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783080"/>
            <a:ext cx="10991088" cy="307750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13A6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 • DATA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F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Simulation dataset / scenario description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243584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1250">
                <a:solidFill>
                  <a:srgbClr val="5D6B7E"/>
                </a:solidFill>
                <a:latin typeface="Arial"/>
              </a:rPr>
              <a:t>Microscopic traffic simulation environment modeled in Eclipse SUMO v1.27.1 via Python TraCI co-simulation.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30352" y="1673352"/>
            <a:ext cx="594360" cy="45720"/>
          </a:xfrm>
          <a:prstGeom prst="rect">
            <a:avLst/>
          </a:prstGeom>
          <a:solidFill>
            <a:srgbClr val="13A6A6"/>
          </a:solidFill>
          <a:ln w="12700">
            <a:solidFill>
              <a:srgbClr val="13A6A6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658368" y="1901952"/>
            <a:ext cx="214884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58368" y="1901952"/>
            <a:ext cx="73152" cy="841248"/>
          </a:xfrm>
          <a:prstGeom prst="rect">
            <a:avLst/>
          </a:prstGeom>
          <a:solidFill>
            <a:srgbClr val="1D5FA7"/>
          </a:solidFill>
          <a:ln w="12700">
            <a:solidFill>
              <a:srgbClr val="1D5FA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41248" y="202082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2600" b="1">
                <a:solidFill>
                  <a:srgbClr val="0B1F3A"/>
                </a:solidFill>
                <a:latin typeface="Arial"/>
              </a:rPr>
              <a:t>75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841248" y="2386584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950" b="1">
                <a:solidFill>
                  <a:srgbClr val="5D6B7E"/>
                </a:solidFill>
                <a:latin typeface="Arial"/>
              </a:rPr>
              <a:t>Total CAVs Simulated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962656" y="1901952"/>
            <a:ext cx="214884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2962656" y="1901952"/>
            <a:ext cx="73152" cy="841248"/>
          </a:xfrm>
          <a:prstGeom prst="rect">
            <a:avLst/>
          </a:prstGeom>
          <a:solidFill>
            <a:srgbClr val="13A6A6"/>
          </a:solidFill>
          <a:ln w="12700">
            <a:solidFill>
              <a:srgbClr val="13A6A6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145536" y="202082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2600" b="1">
                <a:solidFill>
                  <a:srgbClr val="0B1F3A"/>
                </a:solidFill>
                <a:latin typeface="Arial"/>
              </a:rPr>
              <a:t>2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3145536" y="2386584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950" b="1">
                <a:solidFill>
                  <a:srgbClr val="5D6B7E"/>
                </a:solidFill>
                <a:latin typeface="Arial"/>
              </a:rPr>
              <a:t>Traffic Inflow Streams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266944" y="1901952"/>
            <a:ext cx="214884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5266944" y="1901952"/>
            <a:ext cx="73152" cy="841248"/>
          </a:xfrm>
          <a:prstGeom prst="rect">
            <a:avLst/>
          </a:prstGeom>
          <a:solidFill>
            <a:srgbClr val="E46F5F"/>
          </a:solidFill>
          <a:ln w="12700">
            <a:solidFill>
              <a:srgbClr val="E46F5F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449824" y="202082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2600" b="1">
                <a:solidFill>
                  <a:srgbClr val="0B1F3A"/>
                </a:solidFill>
                <a:latin typeface="Arial"/>
              </a:rPr>
              <a:t>300s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5449824" y="2386584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950" b="1">
                <a:solidFill>
                  <a:srgbClr val="5D6B7E"/>
                </a:solidFill>
                <a:latin typeface="Arial"/>
              </a:rPr>
              <a:t>Evaluation Time Horizon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571232" y="1901952"/>
            <a:ext cx="3648456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7571232" y="1901952"/>
            <a:ext cx="73152" cy="841248"/>
          </a:xfrm>
          <a:prstGeom prst="rect">
            <a:avLst/>
          </a:prstGeom>
          <a:solidFill>
            <a:srgbClr val="7257C7"/>
          </a:solidFill>
          <a:ln w="12700">
            <a:solidFill>
              <a:srgbClr val="7257C7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754112" y="2020824"/>
            <a:ext cx="33741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2600" b="1">
                <a:solidFill>
                  <a:srgbClr val="0B1F3A"/>
                </a:solidFill>
                <a:latin typeface="Arial"/>
              </a:rPr>
              <a:t>100%</a:t>
            </a:r>
            <a:endParaRPr lang="en-US" sz="2300" dirty="0"/>
          </a:p>
        </p:txBody>
      </p:sp>
      <p:sp>
        <p:nvSpPr>
          <p:cNvPr id="21" name="Text 19"/>
          <p:cNvSpPr/>
          <p:nvPr/>
        </p:nvSpPr>
        <p:spPr>
          <a:xfrm>
            <a:off x="7754112" y="2386584"/>
            <a:ext cx="3374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950" b="1">
                <a:solidFill>
                  <a:srgbClr val="5D6B7E"/>
                </a:solidFill>
                <a:latin typeface="Arial"/>
              </a:rPr>
              <a:t>Autonomous Penetration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58368" y="3127248"/>
            <a:ext cx="1965960" cy="448056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22376" y="3227832"/>
            <a:ext cx="183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sz="920" b="1">
                <a:solidFill>
                  <a:srgbClr val="FFFFFF"/>
                </a:solidFill>
                <a:latin typeface="Arial"/>
              </a:rPr>
              <a:t>Flow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2624328" y="3127248"/>
            <a:ext cx="1417320" cy="448056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688336" y="3227832"/>
            <a:ext cx="1289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sz="920" b="1">
                <a:solidFill>
                  <a:srgbClr val="FFFFFF"/>
                </a:solidFill>
                <a:latin typeface="Arial"/>
              </a:rPr>
              <a:t>Vehicles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4041648" y="3127248"/>
            <a:ext cx="1965960" cy="448056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4105656" y="3227832"/>
            <a:ext cx="183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sz="920" b="1">
                <a:solidFill>
                  <a:srgbClr val="FFFFFF"/>
                </a:solidFill>
                <a:latin typeface="Arial"/>
              </a:rPr>
              <a:t>Flow Rate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6007608" y="3127248"/>
            <a:ext cx="1965960" cy="448056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6071616" y="3227832"/>
            <a:ext cx="183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sz="920" b="1">
                <a:solidFill>
                  <a:srgbClr val="FFFFFF"/>
                </a:solidFill>
                <a:latin typeface="Arial"/>
              </a:rPr>
              <a:t>Platform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7973568" y="3127248"/>
            <a:ext cx="3419856" cy="448056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8037576" y="322783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sz="920" b="1">
                <a:solidFill>
                  <a:srgbClr val="FFFFFF"/>
                </a:solidFill>
                <a:latin typeface="Arial"/>
              </a:rPr>
              <a:t>Operational Characteristics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658368" y="3575304"/>
            <a:ext cx="19659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722376" y="3666744"/>
            <a:ext cx="183794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920">
                <a:solidFill>
                  <a:srgbClr val="5D6B7E"/>
                </a:solidFill>
                <a:latin typeface="Arial"/>
              </a:rPr>
              <a:t>Highway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2624328" y="3575304"/>
            <a:ext cx="141732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2688336" y="3666744"/>
            <a:ext cx="12893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920">
                <a:solidFill>
                  <a:srgbClr val="5D6B7E"/>
                </a:solidFill>
                <a:latin typeface="Arial"/>
              </a:rPr>
              <a:t>50 CAVs</a:t>
            </a:r>
            <a:endParaRPr lang="en-US" sz="920" dirty="0"/>
          </a:p>
        </p:txBody>
      </p:sp>
      <p:sp>
        <p:nvSpPr>
          <p:cNvPr id="36" name="Shape 34"/>
          <p:cNvSpPr/>
          <p:nvPr/>
        </p:nvSpPr>
        <p:spPr>
          <a:xfrm>
            <a:off x="4041648" y="3575304"/>
            <a:ext cx="19659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4105656" y="3666744"/>
            <a:ext cx="183794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920">
                <a:solidFill>
                  <a:srgbClr val="5D6B7E"/>
                </a:solidFill>
                <a:latin typeface="Arial"/>
              </a:rPr>
              <a:t>600 veh/hr</a:t>
            </a:r>
            <a:endParaRPr lang="en-US" sz="920" dirty="0"/>
          </a:p>
        </p:txBody>
      </p:sp>
      <p:sp>
        <p:nvSpPr>
          <p:cNvPr id="38" name="Shape 36"/>
          <p:cNvSpPr/>
          <p:nvPr/>
        </p:nvSpPr>
        <p:spPr>
          <a:xfrm>
            <a:off x="6007608" y="3575304"/>
            <a:ext cx="19659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6071616" y="3666744"/>
            <a:ext cx="183794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920">
                <a:solidFill>
                  <a:srgbClr val="5D6B7E"/>
                </a:solidFill>
                <a:latin typeface="Arial"/>
              </a:rPr>
              <a:t>SUMO + TraCI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7973568" y="3575304"/>
            <a:ext cx="3419856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8037576" y="3666744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920">
                <a:solidFill>
                  <a:srgbClr val="5D6B7E"/>
                </a:solidFill>
                <a:latin typeface="Arial"/>
              </a:rPr>
              <a:t>Single lane 400m, depart speed 25.0 m/s (90 km/h), speed limit 30 m/s</a:t>
            </a:r>
            <a:endParaRPr lang="en-US" sz="920" dirty="0"/>
          </a:p>
        </p:txBody>
      </p:sp>
      <p:sp>
        <p:nvSpPr>
          <p:cNvPr id="42" name="Shape 40"/>
          <p:cNvSpPr/>
          <p:nvPr/>
        </p:nvSpPr>
        <p:spPr>
          <a:xfrm>
            <a:off x="658368" y="4197096"/>
            <a:ext cx="1965960" cy="621792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D8DEE8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722376" y="4288536"/>
            <a:ext cx="183794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920">
                <a:solidFill>
                  <a:srgbClr val="5D6B7E"/>
                </a:solidFill>
                <a:latin typeface="Arial"/>
              </a:rPr>
              <a:t>Ramp</a:t>
            </a:r>
            <a:endParaRPr lang="en-US" sz="920" dirty="0"/>
          </a:p>
        </p:txBody>
      </p:sp>
      <p:sp>
        <p:nvSpPr>
          <p:cNvPr id="44" name="Shape 42"/>
          <p:cNvSpPr/>
          <p:nvPr/>
        </p:nvSpPr>
        <p:spPr>
          <a:xfrm>
            <a:off x="2624328" y="4197096"/>
            <a:ext cx="1417320" cy="621792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D8DEE8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2688336" y="4288536"/>
            <a:ext cx="12893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920">
                <a:solidFill>
                  <a:srgbClr val="5D6B7E"/>
                </a:solidFill>
                <a:latin typeface="Arial"/>
              </a:rPr>
              <a:t>25 CAVs</a:t>
            </a:r>
            <a:endParaRPr lang="en-US" sz="920" dirty="0"/>
          </a:p>
        </p:txBody>
      </p:sp>
      <p:sp>
        <p:nvSpPr>
          <p:cNvPr id="46" name="Shape 44"/>
          <p:cNvSpPr/>
          <p:nvPr/>
        </p:nvSpPr>
        <p:spPr>
          <a:xfrm>
            <a:off x="4041648" y="4197096"/>
            <a:ext cx="1965960" cy="621792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D8DEE8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4105656" y="4288536"/>
            <a:ext cx="183794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920">
                <a:solidFill>
                  <a:srgbClr val="5D6B7E"/>
                </a:solidFill>
                <a:latin typeface="Arial"/>
              </a:rPr>
              <a:t>300 veh/hr</a:t>
            </a:r>
            <a:endParaRPr lang="en-US" sz="920" dirty="0"/>
          </a:p>
        </p:txBody>
      </p:sp>
      <p:sp>
        <p:nvSpPr>
          <p:cNvPr id="48" name="Shape 46"/>
          <p:cNvSpPr/>
          <p:nvPr/>
        </p:nvSpPr>
        <p:spPr>
          <a:xfrm>
            <a:off x="6007608" y="4197096"/>
            <a:ext cx="1965960" cy="621792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D8DEE8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6071616" y="4288536"/>
            <a:ext cx="183794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920">
                <a:solidFill>
                  <a:srgbClr val="5D6B7E"/>
                </a:solidFill>
                <a:latin typeface="Arial"/>
              </a:rPr>
              <a:t>SUMO + TraCI</a:t>
            </a:r>
            <a:endParaRPr lang="en-US" sz="920" dirty="0"/>
          </a:p>
        </p:txBody>
      </p:sp>
      <p:sp>
        <p:nvSpPr>
          <p:cNvPr id="50" name="Shape 48"/>
          <p:cNvSpPr/>
          <p:nvPr/>
        </p:nvSpPr>
        <p:spPr>
          <a:xfrm>
            <a:off x="7973568" y="4197096"/>
            <a:ext cx="3419856" cy="621792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D8DEE8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8037576" y="4288536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920">
                <a:solidFill>
                  <a:srgbClr val="5D6B7E"/>
                </a:solidFill>
                <a:latin typeface="Arial"/>
              </a:rPr>
              <a:t>Single lane 368m, depart speed 15.0 m/s (54 km/h), speed limit 30 m/s</a:t>
            </a:r>
            <a:endParaRPr lang="en-US" sz="920" dirty="0"/>
          </a:p>
        </p:txBody>
      </p:sp>
      <p:sp>
        <p:nvSpPr>
          <p:cNvPr id="52" name="Shape 50"/>
          <p:cNvSpPr/>
          <p:nvPr/>
        </p:nvSpPr>
        <p:spPr>
          <a:xfrm>
            <a:off x="658368" y="4818888"/>
            <a:ext cx="19659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722376" y="4910328"/>
            <a:ext cx="183794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920">
                <a:solidFill>
                  <a:srgbClr val="5D6B7E"/>
                </a:solidFill>
                <a:latin typeface="Arial"/>
              </a:rPr>
              <a:t>Combined</a:t>
            </a:r>
            <a:endParaRPr lang="en-US" sz="920" dirty="0"/>
          </a:p>
        </p:txBody>
      </p:sp>
      <p:sp>
        <p:nvSpPr>
          <p:cNvPr id="54" name="Shape 52"/>
          <p:cNvSpPr/>
          <p:nvPr/>
        </p:nvSpPr>
        <p:spPr>
          <a:xfrm>
            <a:off x="2624328" y="4818888"/>
            <a:ext cx="141732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2688336" y="4910328"/>
            <a:ext cx="12893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920">
                <a:solidFill>
                  <a:srgbClr val="5D6B7E"/>
                </a:solidFill>
                <a:latin typeface="Arial"/>
              </a:rPr>
              <a:t>75 CAVs</a:t>
            </a:r>
            <a:endParaRPr lang="en-US" sz="920" dirty="0"/>
          </a:p>
        </p:txBody>
      </p:sp>
      <p:sp>
        <p:nvSpPr>
          <p:cNvPr id="56" name="Shape 54"/>
          <p:cNvSpPr/>
          <p:nvPr/>
        </p:nvSpPr>
        <p:spPr>
          <a:xfrm>
            <a:off x="4041648" y="4818888"/>
            <a:ext cx="19659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</p:spPr>
        <p:txBody>
          <a:bodyPr/>
          <a:p/>
        </p:txBody>
      </p:sp>
      <p:sp>
        <p:nvSpPr>
          <p:cNvPr id="57" name="Text 55"/>
          <p:cNvSpPr/>
          <p:nvPr/>
        </p:nvSpPr>
        <p:spPr>
          <a:xfrm>
            <a:off x="4105656" y="4910328"/>
            <a:ext cx="183794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920">
                <a:solidFill>
                  <a:srgbClr val="5D6B7E"/>
                </a:solidFill>
                <a:latin typeface="Arial"/>
              </a:rPr>
              <a:t>900 veh/hr total</a:t>
            </a:r>
            <a:endParaRPr lang="en-US" sz="920" dirty="0"/>
          </a:p>
        </p:txBody>
      </p:sp>
      <p:sp>
        <p:nvSpPr>
          <p:cNvPr id="58" name="Shape 56"/>
          <p:cNvSpPr/>
          <p:nvPr/>
        </p:nvSpPr>
        <p:spPr>
          <a:xfrm>
            <a:off x="6007608" y="4818888"/>
            <a:ext cx="19659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</p:spPr>
        <p:txBody>
          <a:bodyPr/>
          <a:p/>
        </p:txBody>
      </p:sp>
      <p:sp>
        <p:nvSpPr>
          <p:cNvPr id="59" name="Text 57"/>
          <p:cNvSpPr/>
          <p:nvPr/>
        </p:nvSpPr>
        <p:spPr>
          <a:xfrm>
            <a:off x="6071616" y="4910328"/>
            <a:ext cx="183794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920">
                <a:solidFill>
                  <a:srgbClr val="5D6B7E"/>
                </a:solidFill>
                <a:latin typeface="Arial"/>
              </a:rPr>
              <a:t>SUMO + TraCI</a:t>
            </a:r>
            <a:endParaRPr lang="en-US" sz="920" dirty="0"/>
          </a:p>
        </p:txBody>
      </p:sp>
      <p:sp>
        <p:nvSpPr>
          <p:cNvPr id="60" name="Shape 58"/>
          <p:cNvSpPr/>
          <p:nvPr/>
        </p:nvSpPr>
        <p:spPr>
          <a:xfrm>
            <a:off x="7973568" y="4818888"/>
            <a:ext cx="3419856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8037576" y="4910328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920">
                <a:solidFill>
                  <a:srgbClr val="5D6B7E"/>
                </a:solidFill>
                <a:latin typeface="Arial"/>
              </a:rPr>
              <a:t>Single lane 400m, 8m junction zone (:gneJ2), bottleneck speed v_m = 25 m/s</a:t>
            </a:r>
            <a:endParaRPr lang="en-US" sz="920" dirty="0"/>
          </a:p>
        </p:txBody>
      </p:sp>
      <p:sp>
        <p:nvSpPr>
          <p:cNvPr id="62" name="Shape 60"/>
          <p:cNvSpPr/>
          <p:nvPr/>
        </p:nvSpPr>
        <p:spPr>
          <a:xfrm>
            <a:off x="658368" y="5577840"/>
            <a:ext cx="10725912" cy="411480"/>
          </a:xfrm>
          <a:prstGeom prst="roundRect">
            <a:avLst>
              <a:gd name="adj" fmla="val 22222"/>
            </a:avLst>
          </a:prstGeom>
          <a:solidFill>
            <a:srgbClr val="FFF6E3"/>
          </a:solidFill>
          <a:ln w="12700">
            <a:solidFill>
              <a:srgbClr val="F0E3C3"/>
            </a:solidFill>
            <a:prstDash val="solid"/>
          </a:ln>
        </p:spPr>
        <p:txBody>
          <a:bodyPr/>
          <a:p/>
        </p:txBody>
      </p:sp>
      <p:sp>
        <p:nvSpPr>
          <p:cNvPr id="63" name="Text 61"/>
          <p:cNvSpPr/>
          <p:nvPr/>
        </p:nvSpPr>
        <p:spPr>
          <a:xfrm>
            <a:off x="832104" y="5678424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950" b="1">
                <a:solidFill>
                  <a:srgbClr val="A16C0A"/>
                </a:solidFill>
                <a:latin typeface="Arial"/>
              </a:rPr>
              <a:t>Physical CAV Parameters: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1170432" y="5641848"/>
            <a:ext cx="9829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1020">
                <a:solidFill>
                  <a:srgbClr val="1E293B"/>
                </a:solidFill>
                <a:latin typeface="Arial"/>
              </a:rPr>
              <a:t>All vehicles are modeled as 5.0 m CAVs with comfortable acceleration [-3.0, +2.0] m/s², emergency deceleration 9.0 m/s², safe standstill gap 5.0 m, safe time headway 1.5 s, and symmetric jerk limit 2.5 m/s³.</a:t>
            </a:r>
            <a:endParaRPr lang="en-US" sz="10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28832" y="655624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DCE4EF"/>
                </a:solidFill>
                <a:latin typeface="Aptos"/>
                <a:ea typeface="Aptos"/>
                <a:cs typeface="Aptos"/>
              </a:defRPr>
            </a:lvl1pPr>
          </a:lstStyle>
          <a:p>
            <a:pPr>
              <a:defRPr sz="1000">
                <a:solidFill>
                  <a:srgbClr val="94A3B8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13A6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 • VALIDATION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F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Experimental setup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243584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1250">
                <a:solidFill>
                  <a:srgbClr val="5D6B7E"/>
                </a:solidFill>
                <a:latin typeface="Arial"/>
              </a:rPr>
              <a:t>Rigorous comparison protocol across baseline, event-triggered, and packet-loss configurations.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30352" y="1673352"/>
            <a:ext cx="594360" cy="45720"/>
          </a:xfrm>
          <a:prstGeom prst="rect">
            <a:avLst/>
          </a:prstGeom>
          <a:solidFill>
            <a:srgbClr val="13A6A6"/>
          </a:solidFill>
          <a:ln w="12700">
            <a:solidFill>
              <a:srgbClr val="13A6A6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658368" y="1901952"/>
            <a:ext cx="5230368" cy="1298448"/>
          </a:xfrm>
          <a:prstGeom prst="roundRect">
            <a:avLst>
              <a:gd name="adj" fmla="val 11268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58368" y="1901952"/>
            <a:ext cx="73152" cy="1298448"/>
          </a:xfrm>
          <a:prstGeom prst="rect">
            <a:avLst/>
          </a:prstGeom>
          <a:solidFill>
            <a:srgbClr val="1D5FA7"/>
          </a:solidFill>
          <a:ln w="12700">
            <a:solidFill>
              <a:srgbClr val="1D5FA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05256" y="21031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1300" b="1">
                <a:solidFill>
                  <a:srgbClr val="0B1F3A"/>
                </a:solidFill>
                <a:latin typeface="Arial"/>
              </a:rPr>
              <a:t>Controller &amp; Channel Parameters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05256" y="2468880"/>
            <a:ext cx="45902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sz="950" b="0">
                <a:solidFill>
                  <a:srgbClr val="334155"/>
                </a:solidFill>
                <a:latin typeface="Arial"/>
              </a:rPr>
              <a:t>• Step size Δt = 0.1 s (10 Hz) | RSU sort period = 2.0 s (0.5 Hz)</a:t>
            </a:r>
            <a:endParaRPr lang="en-US" sz="1080" dirty="0"/>
          </a:p>
          <a:p>
            <a:pPr algn="l"/>
            <a:r>
              <a:rPr sz="950" b="0">
                <a:solidFill>
                  <a:srgbClr val="334155"/>
                </a:solidFill>
                <a:latin typeface="Arial"/>
              </a:rPr>
              <a:t>• Consensus gains: kp = 0.15, kv = 0.80 | Jerk limit = 2.5 m/s³</a:t>
            </a:r>
          </a:p>
          <a:p>
            <a:pPr algn="l"/>
            <a:r>
              <a:rPr sz="950" b="0">
                <a:solidFill>
                  <a:srgbClr val="334155"/>
                </a:solidFill>
                <a:latin typeface="Arial"/>
              </a:rPr>
              <a:t>• Radar lookahead = 150 m | Safety TTC threshold = 2.0 s</a:t>
            </a:r>
          </a:p>
        </p:txBody>
      </p:sp>
      <p:sp>
        <p:nvSpPr>
          <p:cNvPr id="10" name="Shape 8"/>
          <p:cNvSpPr/>
          <p:nvPr/>
        </p:nvSpPr>
        <p:spPr>
          <a:xfrm>
            <a:off x="658368" y="3547872"/>
            <a:ext cx="5230368" cy="1298448"/>
          </a:xfrm>
          <a:prstGeom prst="roundRect">
            <a:avLst>
              <a:gd name="adj" fmla="val 11268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58368" y="3547872"/>
            <a:ext cx="73152" cy="1298448"/>
          </a:xfrm>
          <a:prstGeom prst="rect">
            <a:avLst/>
          </a:prstGeom>
          <a:solidFill>
            <a:srgbClr val="13A6A6"/>
          </a:solidFill>
          <a:ln w="12700">
            <a:solidFill>
              <a:srgbClr val="13A6A6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905256" y="374904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1300" b="1">
                <a:solidFill>
                  <a:srgbClr val="0B1F3A"/>
                </a:solidFill>
                <a:latin typeface="Arial"/>
              </a:rPr>
              <a:t>Simulation Protocol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05256" y="4114800"/>
            <a:ext cx="45902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sz="950" b="0">
                <a:solidFill>
                  <a:srgbClr val="334155"/>
                </a:solidFill>
                <a:latin typeface="Arial"/>
              </a:rPr>
              <a:t>• 300.0 s horizon with 75 total CAVs (50 highway, 25 ramp)</a:t>
            </a:r>
            <a:endParaRPr lang="en-US" sz="1080" dirty="0"/>
          </a:p>
          <a:p>
            <a:pPr algn="l"/>
            <a:r>
              <a:rPr sz="950" b="0">
                <a:solidFill>
                  <a:srgbClr val="334155"/>
                </a:solidFill>
                <a:latin typeface="Arial"/>
              </a:rPr>
              <a:t>• Full 0.1 s telemetry: speed, acceleration, gap, predecessor age</a:t>
            </a:r>
          </a:p>
          <a:p>
            <a:pPr algn="l"/>
            <a:r>
              <a:rPr sz="950" b="0">
                <a:solidFill>
                  <a:srgbClr val="334155"/>
                </a:solidFill>
                <a:latin typeface="Arial"/>
              </a:rPr>
              <a:t>• Reproducible RNG seeds for channel noise &amp; packet loss models</a:t>
            </a:r>
          </a:p>
        </p:txBody>
      </p:sp>
      <p:sp>
        <p:nvSpPr>
          <p:cNvPr id="14" name="Shape 12"/>
          <p:cNvSpPr/>
          <p:nvPr/>
        </p:nvSpPr>
        <p:spPr>
          <a:xfrm>
            <a:off x="6144768" y="1901952"/>
            <a:ext cx="5230368" cy="1298448"/>
          </a:xfrm>
          <a:prstGeom prst="roundRect">
            <a:avLst>
              <a:gd name="adj" fmla="val 11268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144768" y="1901952"/>
            <a:ext cx="73152" cy="1298448"/>
          </a:xfrm>
          <a:prstGeom prst="rect">
            <a:avLst/>
          </a:prstGeom>
          <a:solidFill>
            <a:srgbClr val="E46F5F"/>
          </a:solidFill>
          <a:ln w="12700">
            <a:solidFill>
              <a:srgbClr val="E46F5F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391656" y="21031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1300" b="1">
                <a:solidFill>
                  <a:srgbClr val="0B1F3A"/>
                </a:solidFill>
                <a:latin typeface="Arial"/>
              </a:rPr>
              <a:t>Evaluated Benchmarks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391656" y="2468880"/>
            <a:ext cx="45902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sz="950" b="0">
                <a:solidFill>
                  <a:srgbClr val="334155"/>
                </a:solidFill>
                <a:latin typeface="Arial"/>
              </a:rPr>
              <a:t>• 1) Perfect Comm (10 Hz periodic V2V baseline)</a:t>
            </a:r>
            <a:endParaRPr lang="en-US" sz="1080" dirty="0"/>
          </a:p>
          <a:p>
            <a:pPr algn="l"/>
            <a:r>
              <a:rPr sz="950" b="0">
                <a:solidFill>
                  <a:srgbClr val="1565C0"/>
                </a:solidFill>
                <a:latin typeface="Arial"/>
              </a:rPr>
              <a:t>• 2) Event-Triggered V2V (Proposed framework)</a:t>
            </a:r>
          </a:p>
          <a:p>
            <a:pPr algn="l"/>
            <a:r>
              <a:rPr sz="950" b="0">
                <a:solidFill>
                  <a:srgbClr val="334155"/>
                </a:solidFill>
                <a:latin typeface="Arial"/>
              </a:rPr>
              <a:t>• 3) Real Comm (0% loss) | 4) 10% loss | 5) 30% loss</a:t>
            </a:r>
          </a:p>
        </p:txBody>
      </p:sp>
      <p:sp>
        <p:nvSpPr>
          <p:cNvPr id="18" name="Shape 16"/>
          <p:cNvSpPr/>
          <p:nvPr/>
        </p:nvSpPr>
        <p:spPr>
          <a:xfrm>
            <a:off x="6144768" y="3547872"/>
            <a:ext cx="5230368" cy="1298448"/>
          </a:xfrm>
          <a:prstGeom prst="roundRect">
            <a:avLst>
              <a:gd name="adj" fmla="val 11268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144768" y="3547872"/>
            <a:ext cx="73152" cy="1298448"/>
          </a:xfrm>
          <a:prstGeom prst="rect">
            <a:avLst/>
          </a:prstGeom>
          <a:solidFill>
            <a:srgbClr val="7257C7"/>
          </a:solidFill>
          <a:ln w="12700">
            <a:solidFill>
              <a:srgbClr val="7257C7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391656" y="374904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1300" b="1">
                <a:solidFill>
                  <a:srgbClr val="0B1F3A"/>
                </a:solidFill>
                <a:latin typeface="Arial"/>
              </a:rPr>
              <a:t>Performance Metrics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391656" y="4114800"/>
            <a:ext cx="45902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sz="950" b="0">
                <a:solidFill>
                  <a:srgbClr val="334155"/>
                </a:solidFill>
                <a:latin typeface="Arial"/>
              </a:rPr>
              <a:t>• Safety: Physical collisions, emergency TTC conflict events (&lt;2.0 s)</a:t>
            </a:r>
            <a:endParaRPr lang="en-US" sz="1080" dirty="0"/>
          </a:p>
          <a:p>
            <a:pPr algn="l"/>
            <a:r>
              <a:rPr sz="950" b="0">
                <a:solidFill>
                  <a:srgbClr val="334155"/>
                </a:solidFill>
                <a:latin typeface="Arial"/>
              </a:rPr>
              <a:t>• Communication: V2V packet volume, data volume (KB), bitrate (kbps)</a:t>
            </a:r>
          </a:p>
          <a:p>
            <a:pPr algn="l"/>
            <a:r>
              <a:rPr sz="950" b="0">
                <a:solidFill>
                  <a:srgbClr val="334155"/>
                </a:solidFill>
                <a:latin typeface="Arial"/>
              </a:rPr>
              <a:t>• Traffic Flow: Merge velocity convergence, speed variance, stability</a:t>
            </a:r>
          </a:p>
        </p:txBody>
      </p:sp>
      <p:sp>
        <p:nvSpPr>
          <p:cNvPr id="22" name="Shape 20"/>
          <p:cNvSpPr/>
          <p:nvPr/>
        </p:nvSpPr>
        <p:spPr>
          <a:xfrm>
            <a:off x="658368" y="5248656"/>
            <a:ext cx="10716768" cy="521208"/>
          </a:xfrm>
          <a:prstGeom prst="roundRect">
            <a:avLst>
              <a:gd name="adj" fmla="val 22807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868680" y="540410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950" b="1">
                <a:solidFill>
                  <a:srgbClr val="9FC0DB"/>
                </a:solidFill>
                <a:latin typeface="Arial"/>
              </a:rPr>
              <a:t>Fair Comparison Principle: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359152" y="5330952"/>
            <a:ext cx="8549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1150" b="1">
                <a:solidFill>
                  <a:srgbClr val="FFFFFF"/>
                </a:solidFill>
                <a:latin typeface="Arial"/>
              </a:rPr>
              <a:t>Identical vehicle arrival sequences, speed distributions, and road networks are maintained across all baseline and experimental runs for exact comparability.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28832" y="655624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DCE4EF"/>
                </a:solidFill>
                <a:latin typeface="Aptos"/>
                <a:ea typeface="Aptos"/>
                <a:cs typeface="Aptos"/>
              </a:defRPr>
            </a:lvl1pPr>
          </a:lstStyle>
          <a:p>
            <a:pPr>
              <a:defRPr sz="1000">
                <a:solidFill>
                  <a:srgbClr val="94A3B8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13A6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 • RESULTS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F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Experimental results &amp; discussion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243584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1250">
                <a:solidFill>
                  <a:srgbClr val="5D6B7E"/>
                </a:solidFill>
                <a:latin typeface="Arial"/>
              </a:rPr>
              <a:t>Quantitative evidence: 89.60% reduction in V2V transmissions with collision-free operation across all tested scenarios.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30352" y="1673352"/>
            <a:ext cx="594360" cy="45720"/>
          </a:xfrm>
          <a:prstGeom prst="rect">
            <a:avLst/>
          </a:prstGeom>
          <a:solidFill>
            <a:srgbClr val="13A6A6"/>
          </a:solidFill>
          <a:ln w="12700">
            <a:solidFill>
              <a:srgbClr val="13A6A6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658368" y="1874520"/>
            <a:ext cx="6382512" cy="3529584"/>
          </a:xfrm>
          <a:prstGeom prst="roundRect">
            <a:avLst>
              <a:gd name="adj" fmla="val 4663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96112" y="2112264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1400" b="1">
                <a:solidFill>
                  <a:srgbClr val="0B1F3A"/>
                </a:solidFill>
                <a:latin typeface="Arial"/>
              </a:rPr>
              <a:t>Key Quantitative Benchmark Results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2404872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950">
                <a:solidFill>
                  <a:srgbClr val="5D6B7E"/>
                </a:solidFill>
                <a:latin typeface="Arial"/>
              </a:rPr>
              <a:t>Tested over 300.0s / 75 CAVs / 900 veh/hr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914400" y="295351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1000" b="1">
                <a:solidFill>
                  <a:srgbClr val="5D6B7E"/>
                </a:solidFill>
                <a:latin typeface="Arial"/>
              </a:rPr>
              <a:t>10 Hz Baseline V2V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103120" y="2953512"/>
            <a:ext cx="4224528" cy="256032"/>
          </a:xfrm>
          <a:prstGeom prst="roundRect">
            <a:avLst>
              <a:gd name="adj" fmla="val 50000"/>
            </a:avLst>
          </a:prstGeom>
          <a:solidFill>
            <a:srgbClr val="EFF3F7"/>
          </a:solidFill>
          <a:ln w="12700">
            <a:solidFill>
              <a:srgbClr val="EFF3F7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2103120" y="2953512"/>
            <a:ext cx="4224528" cy="256032"/>
          </a:xfrm>
          <a:prstGeom prst="roundRect">
            <a:avLst>
              <a:gd name="adj" fmla="val 50000"/>
            </a:avLst>
          </a:prstGeom>
          <a:solidFill>
            <a:srgbClr val="5D6B7E"/>
          </a:solidFill>
          <a:ln w="12700">
            <a:solidFill>
              <a:srgbClr val="5D6B7E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806440" y="292608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sz="1050" b="1">
                <a:solidFill>
                  <a:srgbClr val="0B1F3A"/>
                </a:solidFill>
                <a:latin typeface="Arial"/>
              </a:rPr>
              <a:t>16,129 pkts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914400" y="356616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1000" b="1">
                <a:solidFill>
                  <a:srgbClr val="5D6B7E"/>
                </a:solidFill>
                <a:latin typeface="Arial"/>
              </a:rPr>
              <a:t>Event-Triggered V2V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103120" y="3566160"/>
            <a:ext cx="4224528" cy="256032"/>
          </a:xfrm>
          <a:prstGeom prst="roundRect">
            <a:avLst>
              <a:gd name="adj" fmla="val 50000"/>
            </a:avLst>
          </a:prstGeom>
          <a:solidFill>
            <a:srgbClr val="EFF3F7"/>
          </a:solidFill>
          <a:ln w="12700">
            <a:solidFill>
              <a:srgbClr val="EFF3F7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2103120" y="3566160"/>
            <a:ext cx="439350" cy="256032"/>
          </a:xfrm>
          <a:prstGeom prst="roundRect">
            <a:avLst>
              <a:gd name="adj" fmla="val 50000"/>
            </a:avLst>
          </a:prstGeom>
          <a:solidFill>
            <a:srgbClr val="1D5FA7"/>
          </a:solidFill>
          <a:ln w="12700">
            <a:solidFill>
              <a:srgbClr val="1D5FA7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806440" y="353872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sz="1050" b="1">
                <a:solidFill>
                  <a:srgbClr val="0B1F3A"/>
                </a:solidFill>
                <a:latin typeface="Arial"/>
              </a:rPr>
              <a:t>1,677 pkts (-89.6%)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914400" y="4178808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1000" b="1">
                <a:solidFill>
                  <a:srgbClr val="5D6B7E"/>
                </a:solidFill>
                <a:latin typeface="Arial"/>
              </a:rPr>
              <a:t>Bandwidth Volume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103120" y="4178808"/>
            <a:ext cx="4224528" cy="256032"/>
          </a:xfrm>
          <a:prstGeom prst="roundRect">
            <a:avLst>
              <a:gd name="adj" fmla="val 50000"/>
            </a:avLst>
          </a:prstGeom>
          <a:solidFill>
            <a:srgbClr val="EFF3F7"/>
          </a:solidFill>
          <a:ln w="12700">
            <a:solidFill>
              <a:srgbClr val="EFF3F7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2103120" y="4178808"/>
            <a:ext cx="899824" cy="256032"/>
          </a:xfrm>
          <a:prstGeom prst="roundRect">
            <a:avLst>
              <a:gd name="adj" fmla="val 50000"/>
            </a:avLst>
          </a:prstGeom>
          <a:solidFill>
            <a:srgbClr val="13A6A6"/>
          </a:solidFill>
          <a:ln w="12700">
            <a:solidFill>
              <a:srgbClr val="13A6A6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806440" y="4151376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sz="1050" b="1">
                <a:solidFill>
                  <a:srgbClr val="0B1F3A"/>
                </a:solidFill>
                <a:latin typeface="Arial"/>
              </a:rPr>
              <a:t>243.9 KB (-78.7%)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914400" y="4983480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900">
                <a:solidFill>
                  <a:srgbClr val="94A1B0"/>
                </a:solidFill>
                <a:latin typeface="Arial"/>
              </a:rPr>
              <a:t>Zero physical collisions and zero TTC conflict events (&lt;2.0s) across all ideal and lossy runs (0%, 10%, 30% loss).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333488" y="1874520"/>
            <a:ext cx="4050792" cy="3529584"/>
          </a:xfrm>
          <a:prstGeom prst="roundRect">
            <a:avLst>
              <a:gd name="adj" fmla="val 4663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607808" y="215798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1800" b="1">
                <a:solidFill>
                  <a:srgbClr val="FFFFFF"/>
                </a:solidFill>
                <a:latin typeface="Arial"/>
              </a:rPr>
              <a:t>Performance Discussion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7607808" y="2807208"/>
            <a:ext cx="64008" cy="64008"/>
          </a:xfrm>
          <a:prstGeom prst="ellipse">
            <a:avLst/>
          </a:prstGeom>
          <a:solidFill>
            <a:srgbClr val="13A6A6"/>
          </a:solidFill>
          <a:ln w="12700">
            <a:solidFill>
              <a:srgbClr val="13A6A6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7754112" y="2724912"/>
            <a:ext cx="3191256" cy="4114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buNone/>
            </a:pPr>
            <a:r>
              <a:rPr sz="1100" b="1">
                <a:solidFill>
                  <a:srgbClr val="0F172A"/>
                </a:solidFill>
                <a:latin typeface="Arial"/>
              </a:rPr>
              <a:t>Communication Overhead Reduction</a:t>
            </a:r>
            <a:endParaRPr lang="en-US" sz="1080" dirty="0"/>
          </a:p>
          <a:p/>
          <a:p/>
          <a:p/>
          <a:p>
            <a:pPr algn="l"/>
            <a:r>
              <a:rPr sz="950" b="0">
                <a:solidFill>
                  <a:srgbClr val="334155"/>
                </a:solidFill>
                <a:latin typeface="Arial"/>
              </a:rPr>
              <a:t>• V2V transmissions plummeted by 89.60% (16,129 down to 1,677 packets).</a:t>
            </a:r>
          </a:p>
          <a:p>
            <a:pPr algn="l"/>
            <a:r>
              <a:rPr sz="950" b="0">
                <a:solidFill>
                  <a:srgbClr val="334155"/>
                </a:solidFill>
                <a:latin typeface="Arial"/>
              </a:rPr>
              <a:t>• Bandwidth volume dropped by 78.73% (1,147 KB down to 244 KB).</a:t>
            </a:r>
          </a:p>
          <a:p>
            <a:pPr algn="l"/>
            <a:r>
              <a:rPr sz="950" b="0">
                <a:solidFill>
                  <a:srgbClr val="334155"/>
                </a:solidFill>
                <a:latin typeface="Arial"/>
              </a:rPr>
              <a:t>• Transmission bitrate reduced from 31.3 kbps to 6.66 kbps.</a:t>
            </a:r>
          </a:p>
        </p:txBody>
      </p:sp>
      <p:sp>
        <p:nvSpPr>
          <p:cNvPr id="26" name="Shape 24"/>
          <p:cNvSpPr/>
          <p:nvPr/>
        </p:nvSpPr>
        <p:spPr>
          <a:xfrm>
            <a:off x="7607808" y="3337560"/>
            <a:ext cx="64008" cy="64008"/>
          </a:xfrm>
          <a:prstGeom prst="ellipse">
            <a:avLst/>
          </a:prstGeom>
          <a:solidFill>
            <a:srgbClr val="E46F5F"/>
          </a:solidFill>
          <a:ln w="12700">
            <a:solidFill>
              <a:srgbClr val="E46F5F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7754112" y="3255264"/>
            <a:ext cx="3191256" cy="4114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buNone/>
            </a:pPr>
            <a:r>
              <a:rPr sz="1100" b="1">
                <a:solidFill>
                  <a:srgbClr val="0F172A"/>
                </a:solidFill>
                <a:latin typeface="Arial"/>
              </a:rPr>
              <a:t>Channel Loss Resilience (10% &amp; 30%)</a:t>
            </a:r>
            <a:endParaRPr lang="en-US" sz="1080" dirty="0"/>
          </a:p>
          <a:p/>
          <a:p/>
          <a:p/>
          <a:p>
            <a:pPr algn="l"/>
            <a:r>
              <a:rPr sz="950" b="0">
                <a:solidFill>
                  <a:srgbClr val="334155"/>
                </a:solidFill>
                <a:latin typeface="Arial"/>
              </a:rPr>
              <a:t>• Constant-velocity dead reckoning bridged packet gaps up to 4.3 s.</a:t>
            </a:r>
          </a:p>
          <a:p>
            <a:pPr algn="l"/>
            <a:r>
              <a:rPr sz="950" b="0">
                <a:solidFill>
                  <a:srgbClr val="334155"/>
                </a:solidFill>
                <a:latin typeface="Arial"/>
              </a:rPr>
              <a:t>• Prevented false emergency braking or accordion shockwaves.</a:t>
            </a:r>
          </a:p>
          <a:p>
            <a:pPr algn="l"/>
            <a:r>
              <a:rPr sz="950" b="0">
                <a:solidFill>
                  <a:srgbClr val="334155"/>
                </a:solidFill>
                <a:latin typeface="Arial"/>
              </a:rPr>
              <a:t>• Radar fail-safe stood ready but required 0 interventions.</a:t>
            </a:r>
          </a:p>
        </p:txBody>
      </p:sp>
      <p:sp>
        <p:nvSpPr>
          <p:cNvPr id="28" name="Shape 26"/>
          <p:cNvSpPr/>
          <p:nvPr/>
        </p:nvSpPr>
        <p:spPr>
          <a:xfrm>
            <a:off x="7607808" y="3867912"/>
            <a:ext cx="64008" cy="64008"/>
          </a:xfrm>
          <a:prstGeom prst="ellipse">
            <a:avLst/>
          </a:prstGeom>
          <a:solidFill>
            <a:srgbClr val="F3C969"/>
          </a:solidFill>
          <a:ln w="12700">
            <a:solidFill>
              <a:srgbClr val="F3C969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7754112" y="3785616"/>
            <a:ext cx="3191256" cy="4572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buNone/>
            </a:pPr>
            <a:r>
              <a:rPr sz="1100" b="1">
                <a:solidFill>
                  <a:srgbClr val="0F172A"/>
                </a:solidFill>
                <a:latin typeface="Arial"/>
              </a:rPr>
              <a:t>Core Research Hypothesis Validated</a:t>
            </a:r>
            <a:endParaRPr lang="en-US" sz="1080" dirty="0"/>
          </a:p>
          <a:p/>
          <a:p/>
          <a:p>
            <a:pPr algn="l"/>
            <a:r>
              <a:rPr sz="950" b="0">
                <a:solidFill>
                  <a:srgbClr val="1565C0"/>
                </a:solidFill>
                <a:latin typeface="Arial"/>
              </a:rPr>
              <a:t>• Continuous 10 Hz beaconing is NOT required for longitudinal safety.</a:t>
            </a:r>
          </a:p>
          <a:p>
            <a:pPr algn="l"/>
            <a:r>
              <a:rPr sz="950" b="0">
                <a:solidFill>
                  <a:srgbClr val="334155"/>
                </a:solidFill>
                <a:latin typeface="Arial"/>
              </a:rPr>
              <a:t>• Event triggers communicate strictly when kinematic shifts occur.</a:t>
            </a:r>
          </a:p>
        </p:txBody>
      </p:sp>
      <p:sp>
        <p:nvSpPr>
          <p:cNvPr id="30" name="Shape 28"/>
          <p:cNvSpPr/>
          <p:nvPr/>
        </p:nvSpPr>
        <p:spPr>
          <a:xfrm>
            <a:off x="7607808" y="4453128"/>
            <a:ext cx="64008" cy="64008"/>
          </a:xfrm>
          <a:prstGeom prst="ellipse">
            <a:avLst/>
          </a:prstGeom>
          <a:solidFill>
            <a:srgbClr val="7257C7"/>
          </a:solidFill>
          <a:ln w="12700">
            <a:solidFill>
              <a:srgbClr val="7257C7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7754112" y="4370832"/>
            <a:ext cx="3191256" cy="4572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buNone/>
            </a:pPr>
            <a:r>
              <a:rPr sz="1100" b="1">
                <a:solidFill>
                  <a:srgbClr val="0F172A"/>
                </a:solidFill>
                <a:latin typeface="Arial"/>
              </a:rPr>
              <a:t>Current Boundaries &amp; Scope</a:t>
            </a:r>
            <a:endParaRPr lang="en-US" sz="1080" dirty="0"/>
          </a:p>
          <a:p/>
          <a:p/>
          <a:p>
            <a:pPr algn="l"/>
            <a:r>
              <a:rPr sz="950" b="0">
                <a:solidFill>
                  <a:srgbClr val="334155"/>
                </a:solidFill>
                <a:latin typeface="Arial"/>
              </a:rPr>
              <a:t>• Single-lane merge geometry with 100% CAV penetration validated.</a:t>
            </a:r>
          </a:p>
          <a:p>
            <a:pPr algn="l"/>
            <a:r>
              <a:rPr sz="950" b="0">
                <a:solidFill>
                  <a:srgbClr val="64748B"/>
                </a:solidFill>
                <a:latin typeface="Arial"/>
              </a:rPr>
              <a:t>• Multi-lane highway weaving and mixed human traffic targeted in W1–W3.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28832" y="655624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DCE4EF"/>
                </a:solidFill>
                <a:latin typeface="Aptos"/>
                <a:ea typeface="Aptos"/>
                <a:cs typeface="Aptos"/>
              </a:defRPr>
            </a:lvl1pPr>
          </a:lstStyle>
          <a:p>
            <a:pPr>
              <a:defRPr sz="1000">
                <a:solidFill>
                  <a:srgbClr val="94A3B8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200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C2626"/>
                </a:solidFill>
              </a:defRPr>
            </a:pPr>
            <a:r>
              <a:t>12 • VULNERABILITY ANALYSIS: COLLISION RISK WITHOUT FAIL-SAFE</a:t>
            </a:r>
          </a:p>
          <a:p>
            <a:pPr>
              <a:defRPr sz="1700" b="1">
                <a:solidFill>
                  <a:srgbClr val="0F172A"/>
                </a:solidFill>
              </a:defRPr>
            </a:pPr>
            <a:r>
              <a:t>Empirical Failure Modes: Realistic Wireless Impairments Induce Severe Collisions Without Fail-Safe Control</a:t>
            </a:r>
          </a:p>
        </p:txBody>
      </p:sp>
      <p:pic>
        <p:nvPicPr>
          <p:cNvPr id="3" name="Picture 2" descr="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1188720"/>
            <a:ext cx="5349240" cy="2674620"/>
          </a:xfrm>
          <a:prstGeom prst="rect">
            <a:avLst/>
          </a:prstGeom>
        </p:spPr>
      </p:pic>
      <p:pic>
        <p:nvPicPr>
          <p:cNvPr id="4" name="Picture 3" descr="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188720"/>
            <a:ext cx="5349240" cy="253385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30352" y="3931920"/>
            <a:ext cx="5349240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ctr">
              <a:defRPr sz="1150" b="1">
                <a:solidFill>
                  <a:srgbClr val="0F172A"/>
                </a:solidFill>
              </a:defRPr>
            </a:pPr>
            <a:r>
              <a:t>Dynamic Trajectory Breakdown (Bursty Loss &amp; Contention)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• Catastrophic Inversion: Tightest network gap plunges below 0 m at t = 60s, 115s, and 140s (severe overlaps).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• Loss Blindspot: Bursty dropouts blind followers to leader braking waves, causing rear-end pileups.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• Delay vs. Loss: Delay alone maintains ~32 m gap; bursty loss is the primary catalyst for physical collisions.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3931920"/>
            <a:ext cx="5349240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ctr">
              <a:defRPr sz="1150" b="1">
                <a:solidFill>
                  <a:srgbClr val="0F172A"/>
                </a:solidFill>
              </a:defRPr>
            </a:pPr>
            <a:r>
              <a:t>Multi-Seed Statistical Collision Risk (Without Fail-Safe)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• Severe Collision Count: Mean 11.3 crash events and 13.7 vehicles overlapping under combined channel loss.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• Rapid Safety Failure: Time to first overlap collapses from 300 s down to 50.9 s under bursty loss.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• Stale Data &amp; Hard Braking: 16.6% stale predecessor data forces emergency deceleration (-3.0 m/s²).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5650992"/>
            <a:ext cx="10991088" cy="502920"/>
          </a:xfrm>
          <a:prstGeom prst="roundRect">
            <a:avLst/>
          </a:prstGeom>
          <a:solidFill>
            <a:srgbClr val="FEF2F2"/>
          </a:solidFill>
          <a:ln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>
              <a:defRPr sz="1000" b="1">
                <a:solidFill>
                  <a:srgbClr val="DC2626"/>
                </a:solidFill>
              </a:defRPr>
            </a:pPr>
            <a:r>
              <a:t>Why Autonomous Fail-Safe is Essential: In the absence of an onboard radar fail-safe, realistic wireless dropouts cause fatal multi-vehicle crashes. Our proposed dual-layer architecture guarantees 100% collision-free safety.</a:t>
            </a:r>
          </a:p>
        </p:txBody>
      </p:sp>
      <p:sp>
        <p:nvSpPr>
          <p:cNvPr id="8" name="Slide Number Placeholder 0"/>
          <p:cNvSpPr txBox="1"/>
          <p:nvPr/>
        </p:nvSpPr>
        <p:spPr>
          <a:xfrm>
            <a:off x="11228832" y="6556248"/>
            <a:ext cx="795528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200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565C0"/>
                </a:solidFill>
              </a:defRPr>
            </a:pPr>
            <a:r>
              <a:rPr sz="1100" b="1">
                <a:solidFill>
                  <a:srgbClr val="1565C0"/>
                </a:solidFill>
                <a:latin typeface="Arial"/>
              </a:rPr>
              <a:t>13 • VISUAL EVIDENCE : SIMULATION DASHBOARDS &amp; TRAJECTORIES</a:t>
            </a:r>
          </a:p>
          <a:p>
            <a:pPr>
              <a:defRPr sz="1800" b="1">
                <a:solidFill>
                  <a:srgbClr val="212121"/>
                </a:solidFill>
              </a:defRPr>
            </a:pPr>
          </a:p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Microscopic Trajectory Convergence &amp; Empirical Communication Benchmarks (Proposed System)</a:t>
            </a:r>
          </a:p>
        </p:txBody>
      </p:sp>
      <p:pic>
        <p:nvPicPr>
          <p:cNvPr id="3" name="Picture 2" descr="performance_comparison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1188720"/>
            <a:ext cx="5349240" cy="1687344"/>
          </a:xfrm>
          <a:prstGeom prst="rect">
            <a:avLst/>
          </a:prstGeom>
        </p:spPr>
      </p:pic>
      <p:pic>
        <p:nvPicPr>
          <p:cNvPr id="4" name="Picture 3" descr="trajectory_and_speed_profi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188720"/>
            <a:ext cx="5349240" cy="180873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30352" y="3017520"/>
            <a:ext cx="5349240" cy="25146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l">
              <a:defRPr sz="1200" b="1">
                <a:solidFill>
                  <a:srgbClr val="0F172A"/>
                </a:solidFill>
              </a:defRPr>
            </a:pPr>
            <a:r>
              <a:rPr sz="1150" b="1">
                <a:solidFill>
                  <a:srgbClr val="0F172A"/>
                </a:solidFill>
                <a:latin typeface="Arial"/>
              </a:rPr>
              <a:t>Communication &amp; Spectral Efficiency Findings</a:t>
            </a:r>
          </a:p>
          <a:p>
            <a:pPr>
              <a:defRPr sz="950">
                <a:solidFill>
                  <a:srgbClr val="334155"/>
                </a:solidFill>
              </a:defRPr>
            </a:pPr>
          </a:p>
          <a:p>
            <a:pPr>
              <a:defRPr sz="950">
                <a:solidFill>
                  <a:srgbClr val="334155"/>
                </a:solidFill>
              </a:defRPr>
            </a:pPr>
          </a:p>
          <a:p>
            <a:pPr>
              <a:defRPr sz="950">
                <a:solidFill>
                  <a:srgbClr val="334155"/>
                </a:solidFill>
              </a:defRPr>
            </a:pPr>
          </a:p>
          <a:p>
            <a:pPr>
              <a:defRPr sz="950">
                <a:solidFill>
                  <a:srgbClr val="334155"/>
                </a:solidFill>
              </a:defRPr>
            </a:pPr>
          </a:p>
          <a:p>
            <a:pPr algn="l"/>
            <a:r>
              <a:rPr sz="950" b="0">
                <a:solidFill>
                  <a:srgbClr val="334155"/>
                </a:solidFill>
                <a:latin typeface="Arial"/>
              </a:rPr>
              <a:t>• 89.60% reduction in V2V transmissions (16,129 down to 1,677 packets).</a:t>
            </a:r>
          </a:p>
          <a:p>
            <a:pPr algn="l"/>
            <a:r>
              <a:rPr sz="950" b="0">
                <a:solidFill>
                  <a:srgbClr val="334155"/>
                </a:solidFill>
                <a:latin typeface="Arial"/>
              </a:rPr>
              <a:t>• 78.73% bandwidth savings (1,147.2 KB down to 243.9 KB total volume).</a:t>
            </a:r>
          </a:p>
          <a:p>
            <a:pPr algn="l"/>
            <a:r>
              <a:rPr sz="950" b="0">
                <a:solidFill>
                  <a:srgbClr val="334155"/>
                </a:solidFill>
                <a:latin typeface="Arial"/>
              </a:rPr>
              <a:t>• Transmission bitrate dropped from 31.33 kbps to 6.66 kbps (4.7x reduction).</a:t>
            </a:r>
          </a:p>
          <a:p>
            <a:pPr algn="l"/>
            <a:r>
              <a:rPr sz="950" b="0">
                <a:solidFill>
                  <a:srgbClr val="334155"/>
                </a:solidFill>
                <a:latin typeface="Arial"/>
              </a:rPr>
              <a:t>• Constant-velocity dead reckoning maintained continuity under 10% and 30% loss without phantom braking.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3017520"/>
            <a:ext cx="5349240" cy="25146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l">
              <a:defRPr sz="1200" b="1">
                <a:solidFill>
                  <a:srgbClr val="0F172A"/>
                </a:solidFill>
              </a:defRPr>
            </a:pPr>
            <a:r>
              <a:rPr sz="1150" b="1">
                <a:solidFill>
                  <a:srgbClr val="0F172A"/>
                </a:solidFill>
                <a:latin typeface="Arial"/>
              </a:rPr>
              <a:t>Microscopic Merging Dynamics &amp; Safety Findings</a:t>
            </a:r>
          </a:p>
          <a:p>
            <a:pPr>
              <a:defRPr sz="950">
                <a:solidFill>
                  <a:srgbClr val="334155"/>
                </a:solidFill>
              </a:defRPr>
            </a:pPr>
          </a:p>
          <a:p>
            <a:pPr>
              <a:defRPr sz="950">
                <a:solidFill>
                  <a:srgbClr val="334155"/>
                </a:solidFill>
              </a:defRPr>
            </a:pPr>
          </a:p>
          <a:p>
            <a:pPr>
              <a:defRPr sz="950">
                <a:solidFill>
                  <a:srgbClr val="334155"/>
                </a:solidFill>
              </a:defRPr>
            </a:pPr>
          </a:p>
          <a:p>
            <a:pPr>
              <a:defRPr sz="950">
                <a:solidFill>
                  <a:srgbClr val="334155"/>
                </a:solidFill>
              </a:defRPr>
            </a:pPr>
          </a:p>
          <a:p>
            <a:pPr algn="l"/>
            <a:r>
              <a:rPr sz="950" b="0">
                <a:solidFill>
                  <a:srgbClr val="334155"/>
                </a:solidFill>
                <a:latin typeface="Arial"/>
              </a:rPr>
              <a:t>• 100% collision-free merging across all 75 CAVs (50 highway, 25 ramp).</a:t>
            </a:r>
          </a:p>
          <a:p>
            <a:pPr algn="l"/>
            <a:r>
              <a:rPr sz="950" b="0">
                <a:solidFill>
                  <a:srgbClr val="334155"/>
                </a:solidFill>
                <a:latin typeface="Arial"/>
              </a:rPr>
              <a:t>• Zero critical TTC conflicts (&lt;2.0s) observed across all baseline and lossy runs.</a:t>
            </a:r>
          </a:p>
          <a:p>
            <a:pPr algn="l"/>
            <a:r>
              <a:rPr sz="950" b="0">
                <a:solidFill>
                  <a:srgbClr val="334155"/>
                </a:solidFill>
                <a:latin typeface="Arial"/>
              </a:rPr>
              <a:t>• Smooth velocity convergence to dynamic merge speed vm = 25.0 m/s prior to merge point.</a:t>
            </a:r>
          </a:p>
          <a:p>
            <a:pPr algn="l"/>
            <a:r>
              <a:rPr sz="950" b="0">
                <a:solidFill>
                  <a:srgbClr val="334155"/>
                </a:solidFill>
                <a:latin typeface="Arial"/>
              </a:rPr>
              <a:t>• Virtual predecessor gap (10 m + 1.5 s headway) remained stable with no shockwave amplification.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5650992"/>
            <a:ext cx="10991088" cy="475488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l">
              <a:defRPr sz="1000" b="1">
                <a:solidFill>
                  <a:srgbClr val="1D4ED8"/>
                </a:solidFill>
              </a:defRPr>
            </a:pPr>
            <a:r>
              <a:rPr sz="1000" b="1">
                <a:solidFill>
                  <a:srgbClr val="1565C0"/>
                </a:solidFill>
                <a:latin typeface="Arial"/>
              </a:rPr>
              <a:t>Core Empirical Takeaway: Rule-based event triggering maintained 100% collision-free operation while reducing total V2X communication volume by 78.7%.</a:t>
            </a:r>
          </a:p>
        </p:txBody>
      </p:sp>
      <p:sp>
        <p:nvSpPr>
          <p:cNvPr id="8" name="Slide Number Placeholder 0"/>
          <p:cNvSpPr txBox="1"/>
          <p:nvPr/>
        </p:nvSpPr>
        <p:spPr>
          <a:xfrm>
            <a:off x="11228832" y="6556248"/>
            <a:ext cx="795528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1100" b="1">
                <a:solidFill>
                  <a:srgbClr val="1565C0"/>
                </a:solidFill>
                <a:latin typeface="Arial"/>
              </a:rPr>
              <a:t>14 • DELIVERY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F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 of action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243584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1250">
                <a:solidFill>
                  <a:srgbClr val="5D6B7E"/>
                </a:solidFill>
                <a:latin typeface="Arial"/>
              </a:rPr>
              <a:t>Concrete, time-bounded execution milestones for the second half of the semester.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30352" y="1673352"/>
            <a:ext cx="594360" cy="45720"/>
          </a:xfrm>
          <a:prstGeom prst="rect">
            <a:avLst/>
          </a:prstGeom>
          <a:solidFill>
            <a:srgbClr val="13A6A6"/>
          </a:solidFill>
          <a:ln w="12700">
            <a:solidFill>
              <a:srgbClr val="13A6A6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658368" y="1865376"/>
            <a:ext cx="438912" cy="310896"/>
          </a:xfrm>
          <a:prstGeom prst="roundRect">
            <a:avLst>
              <a:gd name="adj" fmla="val 50000"/>
            </a:avLst>
          </a:prstGeom>
          <a:solidFill>
            <a:srgbClr val="1D5FA7"/>
          </a:solidFill>
          <a:ln w="12700">
            <a:solidFill>
              <a:srgbClr val="1D5FA7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1883664"/>
            <a:ext cx="292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298448" y="189280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1220" b="1">
                <a:solidFill>
                  <a:srgbClr val="0B1F3A"/>
                </a:solidFill>
                <a:latin typeface="Arial"/>
              </a:rPr>
              <a:t>Multi-Lane Highway Scaling</a:t>
            </a:r>
            <a:endParaRPr lang="en-US" sz="1220" dirty="0"/>
          </a:p>
        </p:txBody>
      </p:sp>
      <p:sp>
        <p:nvSpPr>
          <p:cNvPr id="9" name="Text 7"/>
          <p:cNvSpPr/>
          <p:nvPr/>
        </p:nvSpPr>
        <p:spPr>
          <a:xfrm>
            <a:off x="3200400" y="1865376"/>
            <a:ext cx="6355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1060">
                <a:solidFill>
                  <a:srgbClr val="5D6B7E"/>
                </a:solidFill>
                <a:latin typeface="Arial"/>
              </a:rPr>
              <a:t>Extend road geometry to 2-lane highway with discretionary lane-changing maneuvers before the merge.</a:t>
            </a:r>
            <a:endParaRPr lang="en-US" sz="1060" dirty="0"/>
          </a:p>
        </p:txBody>
      </p:sp>
      <p:sp>
        <p:nvSpPr>
          <p:cNvPr id="10" name="Shape 8"/>
          <p:cNvSpPr/>
          <p:nvPr/>
        </p:nvSpPr>
        <p:spPr>
          <a:xfrm>
            <a:off x="10387584" y="1865376"/>
            <a:ext cx="704088" cy="310896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 w="12700">
            <a:solidFill>
              <a:srgbClr val="EAF2FB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0460736" y="1883664"/>
            <a:ext cx="5577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1F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W1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68680" y="2331720"/>
            <a:ext cx="0" cy="301752"/>
          </a:xfrm>
          <a:prstGeom prst="line">
            <a:avLst/>
          </a:prstGeom>
          <a:noFill/>
          <a:ln w="12700">
            <a:solidFill>
              <a:srgbClr val="D8DEE8"/>
            </a:solidFill>
            <a:prstDash val="solid"/>
            <a:headEnd type="none"/>
            <a:tailEnd type="none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58368" y="2633472"/>
            <a:ext cx="438912" cy="310896"/>
          </a:xfrm>
          <a:prstGeom prst="roundRect">
            <a:avLst>
              <a:gd name="adj" fmla="val 50000"/>
            </a:avLst>
          </a:prstGeom>
          <a:solidFill>
            <a:srgbClr val="13A6A6"/>
          </a:solidFill>
          <a:ln w="12700">
            <a:solidFill>
              <a:srgbClr val="13A6A6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31520" y="2651760"/>
            <a:ext cx="292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298448" y="266090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1220" b="1">
                <a:solidFill>
                  <a:srgbClr val="0B1F3A"/>
                </a:solidFill>
                <a:latin typeface="Arial"/>
              </a:rPr>
              <a:t>Saturation Capacity Tests</a:t>
            </a:r>
            <a:endParaRPr lang="en-US" sz="1220" dirty="0"/>
          </a:p>
        </p:txBody>
      </p:sp>
      <p:sp>
        <p:nvSpPr>
          <p:cNvPr id="16" name="Text 14"/>
          <p:cNvSpPr/>
          <p:nvPr/>
        </p:nvSpPr>
        <p:spPr>
          <a:xfrm>
            <a:off x="3200400" y="2633472"/>
            <a:ext cx="6355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1060">
                <a:solidFill>
                  <a:srgbClr val="5D6B7E"/>
                </a:solidFill>
                <a:latin typeface="Arial"/>
              </a:rPr>
              <a:t>Simulate heavy traffic densities (1500–2400 veh/hr) and evaluate queue spillover and shockwave damping.</a:t>
            </a:r>
            <a:endParaRPr lang="en-US" sz="1060" dirty="0"/>
          </a:p>
        </p:txBody>
      </p:sp>
      <p:sp>
        <p:nvSpPr>
          <p:cNvPr id="17" name="Shape 15"/>
          <p:cNvSpPr/>
          <p:nvPr/>
        </p:nvSpPr>
        <p:spPr>
          <a:xfrm>
            <a:off x="10387584" y="2633472"/>
            <a:ext cx="704088" cy="310896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 w="12700">
            <a:solidFill>
              <a:srgbClr val="EAF2FB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0460736" y="2651760"/>
            <a:ext cx="5577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1F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W2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868680" y="3099816"/>
            <a:ext cx="0" cy="301752"/>
          </a:xfrm>
          <a:prstGeom prst="line">
            <a:avLst/>
          </a:prstGeom>
          <a:noFill/>
          <a:ln w="12700">
            <a:solidFill>
              <a:srgbClr val="D8DEE8"/>
            </a:solidFill>
            <a:prstDash val="solid"/>
            <a:headEnd type="none"/>
            <a:tailEnd type="none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58368" y="3401568"/>
            <a:ext cx="438912" cy="310896"/>
          </a:xfrm>
          <a:prstGeom prst="roundRect">
            <a:avLst>
              <a:gd name="adj" fmla="val 50000"/>
            </a:avLst>
          </a:prstGeom>
          <a:solidFill>
            <a:srgbClr val="E46F5F"/>
          </a:solidFill>
          <a:ln w="12700">
            <a:solidFill>
              <a:srgbClr val="E46F5F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731520" y="3419856"/>
            <a:ext cx="292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298448" y="34290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1220" b="1">
                <a:solidFill>
                  <a:srgbClr val="0B1F3A"/>
                </a:solidFill>
                <a:latin typeface="Arial"/>
              </a:rPr>
              <a:t>Mixed Autonomy &amp; Energy Impact</a:t>
            </a:r>
            <a:endParaRPr lang="en-US" sz="1220" dirty="0"/>
          </a:p>
        </p:txBody>
      </p:sp>
      <p:sp>
        <p:nvSpPr>
          <p:cNvPr id="23" name="Text 21"/>
          <p:cNvSpPr/>
          <p:nvPr/>
        </p:nvSpPr>
        <p:spPr>
          <a:xfrm>
            <a:off x="3200400" y="3401568"/>
            <a:ext cx="6355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1060">
                <a:solidFill>
                  <a:srgbClr val="5D6B7E"/>
                </a:solidFill>
                <a:latin typeface="Arial"/>
              </a:rPr>
              <a:t>Incorporate human-driven vehicles (Krauss/IDM) and calculate fuel consumption and emissions reductions.</a:t>
            </a:r>
            <a:endParaRPr lang="en-US" sz="1060" dirty="0"/>
          </a:p>
        </p:txBody>
      </p:sp>
      <p:sp>
        <p:nvSpPr>
          <p:cNvPr id="24" name="Shape 22"/>
          <p:cNvSpPr/>
          <p:nvPr/>
        </p:nvSpPr>
        <p:spPr>
          <a:xfrm>
            <a:off x="10387584" y="3401568"/>
            <a:ext cx="704088" cy="310896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 w="12700">
            <a:solidFill>
              <a:srgbClr val="EAF2FB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10460736" y="3419856"/>
            <a:ext cx="5577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1F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W3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868680" y="3867912"/>
            <a:ext cx="0" cy="301752"/>
          </a:xfrm>
          <a:prstGeom prst="line">
            <a:avLst/>
          </a:prstGeom>
          <a:noFill/>
          <a:ln w="12700">
            <a:solidFill>
              <a:srgbClr val="D8DEE8"/>
            </a:solidFill>
            <a:prstDash val="solid"/>
            <a:headEnd type="none"/>
            <a:tailEnd type="none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658368" y="4169664"/>
            <a:ext cx="438912" cy="310896"/>
          </a:xfrm>
          <a:prstGeom prst="roundRect">
            <a:avLst>
              <a:gd name="adj" fmla="val 50000"/>
            </a:avLst>
          </a:prstGeom>
          <a:solidFill>
            <a:srgbClr val="7257C7"/>
          </a:solidFill>
          <a:ln w="12700">
            <a:solidFill>
              <a:srgbClr val="7257C7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731520" y="4187952"/>
            <a:ext cx="292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1298448" y="4197096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1220" b="1">
                <a:solidFill>
                  <a:srgbClr val="0B1F3A"/>
                </a:solidFill>
                <a:latin typeface="Arial"/>
              </a:rPr>
              <a:t>Thesis Report &amp; Manuscript</a:t>
            </a:r>
            <a:endParaRPr lang="en-US" sz="1220" dirty="0"/>
          </a:p>
        </p:txBody>
      </p:sp>
      <p:sp>
        <p:nvSpPr>
          <p:cNvPr id="30" name="Text 28"/>
          <p:cNvSpPr/>
          <p:nvPr/>
        </p:nvSpPr>
        <p:spPr>
          <a:xfrm>
            <a:off x="3200400" y="4169664"/>
            <a:ext cx="6355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1060">
                <a:solidFill>
                  <a:srgbClr val="5D6B7E"/>
                </a:solidFill>
                <a:latin typeface="Arial"/>
              </a:rPr>
              <a:t>Complete comprehensive minor project report, clean modular codebase, and draft conference manuscript.</a:t>
            </a:r>
            <a:endParaRPr lang="en-US" sz="1060" dirty="0"/>
          </a:p>
        </p:txBody>
      </p:sp>
      <p:sp>
        <p:nvSpPr>
          <p:cNvPr id="31" name="Shape 29"/>
          <p:cNvSpPr/>
          <p:nvPr/>
        </p:nvSpPr>
        <p:spPr>
          <a:xfrm>
            <a:off x="10387584" y="4169664"/>
            <a:ext cx="704088" cy="310896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 w="12700">
            <a:solidFill>
              <a:srgbClr val="EAF2FB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10460736" y="4187952"/>
            <a:ext cx="5577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1F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W4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868680" y="4636008"/>
            <a:ext cx="0" cy="301752"/>
          </a:xfrm>
          <a:prstGeom prst="line">
            <a:avLst/>
          </a:prstGeom>
          <a:noFill/>
          <a:ln w="12700">
            <a:solidFill>
              <a:srgbClr val="D8DEE8"/>
            </a:solidFill>
            <a:prstDash val="solid"/>
            <a:headEnd type="none"/>
            <a:tailEnd type="none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658368" y="4937760"/>
            <a:ext cx="438912" cy="310896"/>
          </a:xfrm>
          <a:prstGeom prst="roundRect">
            <a:avLst>
              <a:gd name="adj" fmla="val 50000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731520" y="4956048"/>
            <a:ext cx="292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1298448" y="496519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1220" b="1">
                <a:solidFill>
                  <a:srgbClr val="0B1F3A"/>
                </a:solidFill>
                <a:latin typeface="Arial"/>
              </a:rPr>
              <a:t>Final Evaluation &amp; Live Demo</a:t>
            </a:r>
            <a:endParaRPr lang="en-US" sz="1220" dirty="0"/>
          </a:p>
        </p:txBody>
      </p:sp>
      <p:sp>
        <p:nvSpPr>
          <p:cNvPr id="37" name="Text 35"/>
          <p:cNvSpPr/>
          <p:nvPr/>
        </p:nvSpPr>
        <p:spPr>
          <a:xfrm>
            <a:off x="3200400" y="4937760"/>
            <a:ext cx="6355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1060">
                <a:solidFill>
                  <a:srgbClr val="5D6B7E"/>
                </a:solidFill>
                <a:latin typeface="Arial"/>
              </a:rPr>
              <a:t>Prepare interactive SUMO GUI demonstration and final defense presentation for end-sem review.</a:t>
            </a:r>
            <a:endParaRPr lang="en-US" sz="1060" dirty="0"/>
          </a:p>
        </p:txBody>
      </p:sp>
      <p:sp>
        <p:nvSpPr>
          <p:cNvPr id="38" name="Shape 36"/>
          <p:cNvSpPr/>
          <p:nvPr/>
        </p:nvSpPr>
        <p:spPr>
          <a:xfrm>
            <a:off x="10387584" y="4937760"/>
            <a:ext cx="704088" cy="310896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 w="12700">
            <a:solidFill>
              <a:srgbClr val="EAF2FB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10460736" y="4956048"/>
            <a:ext cx="5577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1F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W5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58368" y="5705856"/>
            <a:ext cx="10716768" cy="310896"/>
          </a:xfrm>
          <a:prstGeom prst="roundRect">
            <a:avLst>
              <a:gd name="adj" fmla="val 35294"/>
            </a:avLst>
          </a:prstGeom>
          <a:solidFill>
            <a:srgbClr val="E8F5F3"/>
          </a:solidFill>
          <a:ln w="12700">
            <a:solidFill>
              <a:srgbClr val="D4EBE7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859536" y="5742432"/>
            <a:ext cx="11247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880" b="1">
                <a:solidFill>
                  <a:srgbClr val="13A6A6"/>
                </a:solidFill>
                <a:latin typeface="Arial"/>
              </a:rPr>
              <a:t>Final Review Milestone:</a:t>
            </a:r>
            <a:endParaRPr lang="en-US" sz="880" dirty="0"/>
          </a:p>
        </p:txBody>
      </p:sp>
      <p:sp>
        <p:nvSpPr>
          <p:cNvPr id="42" name="Text 40"/>
          <p:cNvSpPr/>
          <p:nvPr/>
        </p:nvSpPr>
        <p:spPr>
          <a:xfrm>
            <a:off x="2020824" y="5715000"/>
            <a:ext cx="88696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970" b="1">
                <a:solidFill>
                  <a:srgbClr val="0B1F3A"/>
                </a:solidFill>
                <a:latin typeface="Arial"/>
              </a:rPr>
              <a:t>End-Semester Evaluation (November 2026)  •  Deliverable: Multi-Lane CAV Merge Simulator, Comprehensive Thesis Report, and Research Paper Draft</a:t>
            </a:r>
            <a:endParaRPr lang="en-US" sz="97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28832" y="655624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DCE4EF"/>
                </a:solidFill>
                <a:latin typeface="Aptos"/>
                <a:ea typeface="Aptos"/>
                <a:cs typeface="Aptos"/>
              </a:defRPr>
            </a:lvl1pPr>
          </a:lstStyle>
          <a:p>
            <a:pPr>
              <a:defRPr sz="1000">
                <a:solidFill>
                  <a:srgbClr val="94A3B8"/>
                </a:solidFill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1100" b="1">
                <a:solidFill>
                  <a:srgbClr val="1565C0"/>
                </a:solidFill>
                <a:latin typeface="Arial"/>
              </a:rPr>
              <a:t>15 • CLOSE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F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Conclusion &amp; future directions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243584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1250">
                <a:solidFill>
                  <a:srgbClr val="5D6B7E"/>
                </a:solidFill>
                <a:latin typeface="Arial"/>
              </a:rPr>
              <a:t>Summary of established findings, identified limitations, and roadmap for end-semester completion.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30352" y="1673352"/>
            <a:ext cx="594360" cy="45720"/>
          </a:xfrm>
          <a:prstGeom prst="rect">
            <a:avLst/>
          </a:prstGeom>
          <a:solidFill>
            <a:srgbClr val="13A6A6"/>
          </a:solidFill>
          <a:ln w="12700">
            <a:solidFill>
              <a:srgbClr val="13A6A6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658368" y="1901952"/>
            <a:ext cx="3364992" cy="2487168"/>
          </a:xfrm>
          <a:prstGeom prst="roundRect">
            <a:avLst>
              <a:gd name="adj" fmla="val 6618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859536" y="2112264"/>
            <a:ext cx="438912" cy="310896"/>
          </a:xfrm>
          <a:prstGeom prst="roundRect">
            <a:avLst>
              <a:gd name="adj" fmla="val 50000"/>
            </a:avLst>
          </a:prstGeom>
          <a:solidFill>
            <a:srgbClr val="1D5FA7"/>
          </a:solidFill>
          <a:ln w="12700">
            <a:solidFill>
              <a:srgbClr val="1D5FA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32688" y="2130552"/>
            <a:ext cx="292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59536" y="2660904"/>
            <a:ext cx="2761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1600" b="1">
                <a:solidFill>
                  <a:srgbClr val="0B1F3A"/>
                </a:solidFill>
                <a:latin typeface="Arial"/>
              </a:rPr>
              <a:t>What We Have Established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59536" y="3182112"/>
            <a:ext cx="276148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sz="1000" b="0">
                <a:solidFill>
                  <a:srgbClr val="334155"/>
                </a:solidFill>
                <a:latin typeface="Arial"/>
              </a:rPr>
              <a:t>Virtual platoon sequencing + event-triggered consensus CACC achieved 100% collision-free merging while slashing V2V communication by 89.60%.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288536" y="1901952"/>
            <a:ext cx="3364992" cy="2487168"/>
          </a:xfrm>
          <a:prstGeom prst="roundRect">
            <a:avLst>
              <a:gd name="adj" fmla="val 6618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489704" y="2112264"/>
            <a:ext cx="438912" cy="310896"/>
          </a:xfrm>
          <a:prstGeom prst="roundRect">
            <a:avLst>
              <a:gd name="adj" fmla="val 50000"/>
            </a:avLst>
          </a:prstGeom>
          <a:solidFill>
            <a:srgbClr val="E46F5F"/>
          </a:solidFill>
          <a:ln w="12700">
            <a:solidFill>
              <a:srgbClr val="E46F5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562856" y="2130552"/>
            <a:ext cx="292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489704" y="2660904"/>
            <a:ext cx="2761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1600" b="1">
                <a:solidFill>
                  <a:srgbClr val="0B1F3A"/>
                </a:solidFill>
                <a:latin typeface="Arial"/>
              </a:rPr>
              <a:t>Current Limitations &amp; Open Questions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489704" y="3182112"/>
            <a:ext cx="276148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sz="1000" b="0">
                <a:solidFill>
                  <a:srgbClr val="334155"/>
                </a:solidFill>
                <a:latin typeface="Arial"/>
              </a:rPr>
              <a:t>Current evaluation validates single-lane merging under 100% CAV penetration; multi-lane weaving and human-driven traffic are being addressed.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18704" y="1901952"/>
            <a:ext cx="3364992" cy="2487168"/>
          </a:xfrm>
          <a:prstGeom prst="roundRect">
            <a:avLst>
              <a:gd name="adj" fmla="val 6618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119872" y="2112264"/>
            <a:ext cx="438912" cy="310896"/>
          </a:xfrm>
          <a:prstGeom prst="roundRect">
            <a:avLst>
              <a:gd name="adj" fmla="val 50000"/>
            </a:avLst>
          </a:prstGeom>
          <a:solidFill>
            <a:srgbClr val="13A6A6"/>
          </a:solidFill>
          <a:ln w="12700">
            <a:solidFill>
              <a:srgbClr val="13A6A6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193024" y="2130552"/>
            <a:ext cx="292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8119872" y="2660904"/>
            <a:ext cx="2761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1600" b="1">
                <a:solidFill>
                  <a:srgbClr val="0B1F3A"/>
                </a:solidFill>
                <a:latin typeface="Arial"/>
              </a:rPr>
              <a:t>Next Steps &amp; Future Directions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119872" y="3182112"/>
            <a:ext cx="276148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sz="1000" b="0">
                <a:solidFill>
                  <a:srgbClr val="334155"/>
                </a:solidFill>
                <a:latin typeface="Arial"/>
              </a:rPr>
              <a:t>Scale to 2-lane highway weaving, incorporate human-driven vehicles (Krauss/IDM), and explore deep reinforcement learning for adaptive triggering.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58368" y="4754880"/>
            <a:ext cx="10725912" cy="905256"/>
          </a:xfrm>
          <a:prstGeom prst="roundRect">
            <a:avLst>
              <a:gd name="adj" fmla="val 16162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96112" y="500176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1000" b="1">
                <a:solidFill>
                  <a:srgbClr val="9FC0DB"/>
                </a:solidFill>
                <a:latin typeface="Arial"/>
              </a:rPr>
              <a:t>Core Takeaway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828800" y="4892040"/>
            <a:ext cx="8869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sz="1500" b="1">
                <a:solidFill>
                  <a:srgbClr val="FFFFFF"/>
                </a:solidFill>
                <a:latin typeface="Arial"/>
              </a:rPr>
              <a:t>“Cooperative CAV merging can reduce reliance on channel-saturating 10 Hz beaconing: event triggers and dead reckoning preserved collision-free operation in the tested scenarios with ~90% fewer V2V transmissions.”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28832" y="655624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DCE4EF"/>
                </a:solidFill>
                <a:latin typeface="Aptos"/>
                <a:ea typeface="Aptos"/>
                <a:cs typeface="Aptos"/>
              </a:defRPr>
            </a:lvl1pPr>
          </a:lstStyle>
          <a:p>
            <a:pPr>
              <a:defRPr sz="1000">
                <a:solidFill>
                  <a:srgbClr val="94A3B8"/>
                </a:solidFill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4023360"/>
            <a:ext cx="4663440" cy="4663440"/>
          </a:xfrm>
          <a:prstGeom prst="arc">
            <a:avLst/>
          </a:prstGeom>
          <a:noFill/>
          <a:ln w="12700">
            <a:solidFill>
              <a:srgbClr val="19476A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326880" y="-1280160"/>
            <a:ext cx="4206240" cy="4206240"/>
          </a:xfrm>
          <a:prstGeom prst="arc">
            <a:avLst/>
          </a:prstGeom>
          <a:noFill/>
          <a:ln w="12700">
            <a:solidFill>
              <a:srgbClr val="2C6D84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681728" y="1024128"/>
            <a:ext cx="2816352" cy="310896"/>
          </a:xfrm>
          <a:prstGeom prst="roundRect">
            <a:avLst>
              <a:gd name="adj" fmla="val 50000"/>
            </a:avLst>
          </a:prstGeom>
          <a:solidFill>
            <a:srgbClr val="153553"/>
          </a:solidFill>
          <a:ln w="12700">
            <a:solidFill>
              <a:srgbClr val="15355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754880" y="1042416"/>
            <a:ext cx="2670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EDF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END OF PRESENTATION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960120" y="1956816"/>
            <a:ext cx="10241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Thank you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1920240" y="296265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BBD0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Questions &amp; discussion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151376" y="3803904"/>
            <a:ext cx="3886200" cy="0"/>
          </a:xfrm>
          <a:prstGeom prst="line">
            <a:avLst/>
          </a:prstGeom>
          <a:noFill/>
          <a:ln w="12700">
            <a:solidFill>
              <a:srgbClr val="36516F"/>
            </a:solidFill>
            <a:prstDash val="solid"/>
            <a:headEnd type="none"/>
            <a:tailEnd type="none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743200" y="4160520"/>
            <a:ext cx="6720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sz="1800" b="1">
                <a:solidFill>
                  <a:srgbClr val="FFFFFF"/>
                </a:solidFill>
                <a:latin typeface="Arial"/>
              </a:rPr>
              <a:t>Rule-Based Cooperative Highway Ramp Merging for Connected and Autonomous Vehicles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331720" y="4626864"/>
            <a:ext cx="7498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sz="1300" b="1">
                <a:solidFill>
                  <a:srgbClr val="8EA6C2"/>
                </a:solidFill>
                <a:latin typeface="Arial"/>
              </a:rPr>
              <a:t>Pranjal Gupta  •  Swagata Barik  •  Aryan Dubey  •  Dr. Debanjan Das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730752" y="5650992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sz="1200" b="0">
                <a:solidFill>
                  <a:srgbClr val="7F97B0"/>
                </a:solidFill>
                <a:latin typeface="Arial"/>
              </a:rPr>
              <a:t>Department of Computer Science and Engineering  •  IIIT Naya Raipur  •  October 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IIIT Naya Raipur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Minor Project / UG Research Work</dc:title>
  <dc:subject>Redesigned Minor Project / UG Research Work Progress Presentation</dc:subject>
  <dc:creator>OpenAI</dc:creator>
  <cp:lastModifiedBy>OpenAI</cp:lastModifiedBy>
  <cp:revision>1</cp:revision>
  <dcterms:created xsi:type="dcterms:W3CDTF">2026-10-05T07:00:27Z</dcterms:created>
  <dcterms:modified xsi:type="dcterms:W3CDTF">2026-10-05T07:00:27Z</dcterms:modified>
</cp:coreProperties>
</file>